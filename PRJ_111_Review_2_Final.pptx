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8"/>
  </p:notesMasterIdLst>
  <p:sldIdLst>
    <p:sldId id="274" r:id="rId5"/>
    <p:sldId id="256" r:id="rId6"/>
    <p:sldId id="257" r:id="rId7"/>
    <p:sldId id="269" r:id="rId8"/>
    <p:sldId id="273" r:id="rId9"/>
    <p:sldId id="275" r:id="rId10"/>
    <p:sldId id="277" r:id="rId11"/>
    <p:sldId id="276" r:id="rId12"/>
    <p:sldId id="272" r:id="rId13"/>
    <p:sldId id="268" r:id="rId14"/>
    <p:sldId id="270" r:id="rId15"/>
    <p:sldId id="265" r:id="rId16"/>
    <p:sldId id="266" r:id="rId17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399B6F38-D768-A670-DEF3-8469058A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BCA4031-CC8F-236D-A27B-EA7F87420E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85DF2172-DEF1-9770-F577-039FE97135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7761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255E8-76FD-C420-1987-D13B1E67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260288-5C20-329D-9AB3-D8C410F70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7C5EB74-31E0-ABB2-15A4-4FB1F28C8E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36653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5D514E0-B1BE-2630-77D3-31C095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9E4099B-7B1F-A0FA-3ABB-CE9838C027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E08A7C6-D14D-41A9-F2DD-738662370A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338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A50E9A-5B29-3F48-C37D-89C17238E2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91275"/>
            <a:ext cx="12192000" cy="46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2DD66-7A7B-3141-248C-33B21989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887" y="-20500"/>
            <a:ext cx="12264887" cy="6898999"/>
          </a:xfrm>
          <a:prstGeom prst="rect">
            <a:avLst/>
          </a:prstGeom>
        </p:spPr>
      </p:pic>
      <p:sp>
        <p:nvSpPr>
          <p:cNvPr id="200" name="TextBox 5"/>
          <p:cNvSpPr txBox="1">
            <a:spLocks noGrp="1"/>
          </p:cNvSpPr>
          <p:nvPr>
            <p:ph type="sldNum" sz="quarter" idx="2"/>
          </p:nvPr>
        </p:nvSpPr>
        <p:spPr>
          <a:xfrm>
            <a:off x="11396678" y="454968"/>
            <a:ext cx="162863" cy="2462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BBA17B-3BC2-6BF3-E9AA-D4BFBC2AD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83" y="380240"/>
            <a:ext cx="1378341" cy="2987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9FE14F-095F-73F1-B975-3CCBF67C0C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40771"/>
            <a:ext cx="12192000" cy="4699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5EEC80A-389A-0914-B331-80471CDD5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1615" y="52673"/>
            <a:ext cx="7779079" cy="1309350"/>
          </a:xfrm>
          <a:prstGeom prst="rect">
            <a:avLst/>
          </a:prstGeom>
        </p:spPr>
      </p:pic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EC0F06BD-D995-B09D-2B28-06CD559DF695}"/>
              </a:ext>
            </a:extLst>
          </p:cNvPr>
          <p:cNvSpPr/>
          <p:nvPr/>
        </p:nvSpPr>
        <p:spPr>
          <a:xfrm>
            <a:off x="-72888" y="5569149"/>
            <a:ext cx="12264887" cy="1309350"/>
          </a:xfrm>
          <a:prstGeom prst="roundRect">
            <a:avLst/>
          </a:prstGeom>
          <a:solidFill>
            <a:srgbClr val="08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AE776-B1B4-1F6F-0EE9-2D02B291CE9E}"/>
              </a:ext>
            </a:extLst>
          </p:cNvPr>
          <p:cNvSpPr txBox="1"/>
          <p:nvPr/>
        </p:nvSpPr>
        <p:spPr>
          <a:xfrm>
            <a:off x="4748252" y="5447308"/>
            <a:ext cx="2860077" cy="76944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Presidency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0268FC-2D4B-1595-4CC0-BF00B3A0E047}"/>
              </a:ext>
            </a:extLst>
          </p:cNvPr>
          <p:cNvSpPr/>
          <p:nvPr/>
        </p:nvSpPr>
        <p:spPr>
          <a:xfrm>
            <a:off x="4837363" y="6139774"/>
            <a:ext cx="2646802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EFB6EA-449F-B759-D837-A2CDBD5E10E2}"/>
              </a:ext>
            </a:extLst>
          </p:cNvPr>
          <p:cNvSpPr txBox="1"/>
          <p:nvPr/>
        </p:nvSpPr>
        <p:spPr>
          <a:xfrm>
            <a:off x="2353623" y="6178261"/>
            <a:ext cx="7961243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 Display"/>
              </a:defRPr>
            </a:pPr>
            <a:r>
              <a:rPr sz="3200" dirty="0"/>
              <a:t>School of Computer Science</a:t>
            </a:r>
            <a:r>
              <a:rPr lang="en-IN" sz="3200" dirty="0"/>
              <a:t> </a:t>
            </a:r>
            <a:r>
              <a:rPr sz="3200" dirty="0"/>
              <a:t>and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E6A419-D98D-646B-0945-71577D3C9949}"/>
              </a:ext>
            </a:extLst>
          </p:cNvPr>
          <p:cNvSpPr/>
          <p:nvPr/>
        </p:nvSpPr>
        <p:spPr>
          <a:xfrm flipV="1">
            <a:off x="2477862" y="6717317"/>
            <a:ext cx="7712764" cy="45719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44D43-4EA8-BF96-7FC3-15A05CEA246A}"/>
              </a:ext>
            </a:extLst>
          </p:cNvPr>
          <p:cNvSpPr txBox="1"/>
          <p:nvPr/>
        </p:nvSpPr>
        <p:spPr>
          <a:xfrm>
            <a:off x="4072463" y="1168079"/>
            <a:ext cx="4240263" cy="15696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002060"/>
                </a:solidFill>
                <a:latin typeface="Aptos Display"/>
              </a:defRPr>
            </a:pPr>
            <a:r>
              <a:t>Mini Project (CSE7102)</a:t>
            </a:r>
          </a:p>
          <a:p>
            <a:pPr algn="ctr">
              <a:defRPr sz="2000" b="1">
                <a:solidFill>
                  <a:srgbClr val="DAA520"/>
                </a:solidFill>
              </a:defRPr>
            </a:pPr>
            <a:r>
              <a:t>REVIEW-2 PRESENTATION</a:t>
            </a:r>
          </a:p>
          <a:p>
            <a:pPr algn="ctr">
              <a:defRPr sz="1600">
                <a:solidFill>
                  <a:srgbClr val="282828"/>
                </a:solidFill>
              </a:defRPr>
            </a:pPr>
            <a:r>
              <a:t>Date: 26-09-2026</a:t>
            </a:r>
          </a:p>
        </p:txBody>
      </p:sp>
    </p:spTree>
    <p:extLst>
      <p:ext uri="{BB962C8B-B14F-4D97-AF65-F5344CB8AC3E}">
        <p14:creationId xmlns:p14="http://schemas.microsoft.com/office/powerpoint/2010/main" val="146604809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51140" y="951239"/>
            <a:ext cx="10363200" cy="898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1800" b="1">
                <a:solidFill>
                  <a:srgbClr val="002060"/>
                </a:solidFill>
              </a:defRPr>
            </a:pPr>
            <a:r>
              <a:t>Development of a Software Application for Analysis and Processing of DVB-S2 Receiver Output Stream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553347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1300" b="1">
                <a:solidFill>
                  <a:srgbClr val="0F2240"/>
                </a:solidFill>
              </a:defRPr>
            </a:pPr>
            <a:r>
              <a:t>Project ID: PRJ_111  |  Course: CSE7102 - Mini Project  |  Review-2 (26-09-2026)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599362439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060"/>
                          </a:solidFill>
                          <a:latin typeface="Arial"/>
                        </a:defRPr>
                      </a:pPr>
                      <a:r>
                        <a:t>Program Name: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B.Tech Computer Science &amp; Engineering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060"/>
                          </a:solidFill>
                          <a:latin typeface="Arial"/>
                        </a:defRPr>
                      </a:pPr>
                      <a:r>
                        <a:t>Course &amp; Code: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CSE7102 - Mini Project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060"/>
                          </a:solidFill>
                          <a:latin typeface="Arial"/>
                        </a:defRPr>
                      </a:pPr>
                      <a:r>
                        <a:t>Review Milestone: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Review-2 (26-09-2026)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060"/>
                          </a:solidFill>
                          <a:latin typeface="Arial"/>
                        </a:defRPr>
                      </a:pPr>
                      <a:r>
                        <a:t>HoD Name: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Head of Department, CSE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060"/>
                          </a:solidFill>
                          <a:latin typeface="Arial"/>
                        </a:defRPr>
                      </a:pPr>
                      <a:r>
                        <a:t>Program Coordinator: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Dr. Irfan Rajab Bhat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2060"/>
                          </a:solidFill>
                          <a:latin typeface="Arial"/>
                        </a:defRPr>
                      </a:pPr>
                      <a:r>
                        <a:t>School Coordinator: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Mr. Muthuraju V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1200" b="1">
                <a:solidFill>
                  <a:srgbClr val="002060"/>
                </a:solidFill>
              </a:defRPr>
            </a:pPr>
            <a:r>
              <a:t>Under the Supervision of: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400" b="1">
                <a:solidFill>
                  <a:srgbClr val="0F2240"/>
                </a:solidFill>
              </a:defRPr>
            </a:pPr>
            <a:r>
              <a:t>Irfan Rajab Bhat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Assistant Professor</a:t>
            </a:r>
            <a:br/>
            <a:r>
              <a:t>Department of Computer Science and Engineering</a:t>
            </a:r>
            <a:br/>
            <a:r>
              <a:t>Presidency University, Bengaluru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3986771" y="334089"/>
            <a:ext cx="5425083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CSS7102- Mini  Project Review-2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199449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  <a:defRPr sz="1100">
                <a:solidFill>
                  <a:srgbClr val="282828"/>
                </a:solidFill>
              </a:defRPr>
            </a:pPr>
            <a:r>
              <a:t>Program: B.Tech Computer Science and Engineering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HoD: Dr. T.V. Rajinikanth / Head of Department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Program Project Coordinator: Dr. Irfan Rajab Bhat</a:t>
            </a:r>
          </a:p>
          <a:p>
            <a:pPr>
              <a:defRPr sz="1100">
                <a:solidFill>
                  <a:srgbClr val="282828"/>
                </a:solidFill>
              </a:defRPr>
            </a:pPr>
            <a:r>
              <a:t>School Project Coordinator: Mr. Muthuraju V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669B82-28E1-6B84-884A-EF2B68034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291382"/>
              </p:ext>
            </p:extLst>
          </p:nvPr>
        </p:nvGraphicFramePr>
        <p:xfrm>
          <a:off x="429369" y="2820448"/>
          <a:ext cx="5542653" cy="1483360"/>
        </p:xfrm>
        <a:graphic>
          <a:graphicData uri="http://schemas.openxmlformats.org/drawingml/2006/table">
            <a:tbl>
              <a:tblPr firstRow="1" bandRow="1"/>
              <a:tblGrid>
                <a:gridCol w="659051">
                  <a:extLst>
                    <a:ext uri="{9D8B030D-6E8A-4147-A177-3AD203B41FA5}">
                      <a16:colId xmlns:a16="http://schemas.microsoft.com/office/drawing/2014/main" val="3892496743"/>
                    </a:ext>
                  </a:extLst>
                </a:gridCol>
                <a:gridCol w="2897486">
                  <a:extLst>
                    <a:ext uri="{9D8B030D-6E8A-4147-A177-3AD203B41FA5}">
                      <a16:colId xmlns:a16="http://schemas.microsoft.com/office/drawing/2014/main" val="1797090138"/>
                    </a:ext>
                  </a:extLst>
                </a:gridCol>
                <a:gridCol w="1986116">
                  <a:extLst>
                    <a:ext uri="{9D8B030D-6E8A-4147-A177-3AD203B41FA5}">
                      <a16:colId xmlns:a16="http://schemas.microsoft.com/office/drawing/2014/main" val="2191578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2060"/>
                          </a:solidFill>
                        </a:defRPr>
                      </a:pPr>
                      <a:r>
                        <a:t>University Roll No.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901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Sk Samad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20231COM0031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4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Y Vengala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20231COM0001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758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 Rakeshwar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20231COM0008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75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ADAAE0D-9E2B-1BC4-51AE-E3E0CC59230D}"/>
              </a:ext>
            </a:extLst>
          </p:cNvPr>
          <p:cNvSpPr txBox="1"/>
          <p:nvPr/>
        </p:nvSpPr>
        <p:spPr>
          <a:xfrm>
            <a:off x="429369" y="2330214"/>
            <a:ext cx="61599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20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sym typeface="Verdana"/>
              </a:rPr>
              <a:t>Group members details:</a:t>
            </a:r>
          </a:p>
        </p:txBody>
      </p:sp>
      <p:sp>
        <p:nvSpPr>
          <p:cNvPr id="5" name="Google Shape;88;p13">
            <a:extLst>
              <a:ext uri="{FF2B5EF4-FFF2-40B4-BE49-F238E27FC236}">
                <a16:creationId xmlns:a16="http://schemas.microsoft.com/office/drawing/2014/main" id="{C68A9A96-FA24-D641-CFDC-9A25FFD27478}"/>
              </a:ext>
            </a:extLst>
          </p:cNvPr>
          <p:cNvSpPr txBox="1">
            <a:spLocks/>
          </p:cNvSpPr>
          <p:nvPr/>
        </p:nvSpPr>
        <p:spPr>
          <a:xfrm>
            <a:off x="7668155" y="1709355"/>
            <a:ext cx="3970500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  <a:defRPr sz="20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indent="0" algn="l">
              <a:spcBef>
                <a:spcPts val="0"/>
              </a:spcBef>
              <a:defRPr sz="1200" b="1">
                <a:solidFill>
                  <a:srgbClr val="002060"/>
                </a:solidFill>
              </a:defRPr>
            </a:pPr>
            <a:r>
              <a:t>Panel No: Panel 11 / PRJ_111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200" b="1">
                <a:solidFill>
                  <a:srgbClr val="002060"/>
                </a:solidFill>
                <a:latin typeface="Arial"/>
              </a:defRPr>
            </a:pPr>
            <a:r>
              <a:t>INDEX / TABLE OF CONTENTS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</a:p>
        </p:txBody>
      </p:sp>
      <p:sp>
        <p:nvSpPr>
          <p:cNvPr id="98" name="TextBox 97"/>
          <p:cNvSpPr txBox="1"/>
          <p:nvPr/>
        </p:nvSpPr>
        <p:spPr>
          <a:xfrm>
            <a:off x="813816" y="10515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2060"/>
                </a:solidFill>
              </a:defRPr>
            </a:pPr>
            <a:r>
              <a:t>Project Fundamentals &amp; Architecture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01. Problem Statement: </a:t>
            </a:r>
            <a:r>
              <a:rPr b="0" sz="1300">
                <a:solidFill>
                  <a:srgbClr val="282828"/>
                </a:solidFill>
                <a:latin typeface="Arial"/>
              </a:rPr>
              <a:t>Multi-format DVB-S2 stream challenges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02. Objectives: </a:t>
            </a:r>
            <a:r>
              <a:rPr b="0" sz="1300">
                <a:solidFill>
                  <a:srgbClr val="282828"/>
                </a:solidFill>
                <a:latin typeface="Arial"/>
              </a:rPr>
              <a:t>3–5 measurable project goals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03. Literature Review: </a:t>
            </a:r>
            <a:r>
              <a:rPr b="0" sz="1300">
                <a:solidFill>
                  <a:srgbClr val="282828"/>
                </a:solidFill>
                <a:latin typeface="Arial"/>
              </a:rPr>
              <a:t>DVB-S2, GSE &amp; anomaly detection research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04. Research Gap: </a:t>
            </a:r>
            <a:r>
              <a:rPr b="0" sz="1300">
                <a:solidFill>
                  <a:srgbClr val="282828"/>
                </a:solidFill>
                <a:latin typeface="Arial"/>
              </a:rPr>
              <a:t>Unifying post-demodulation stream diagnostics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05. Proposed Methodology: </a:t>
            </a:r>
            <a:r>
              <a:rPr b="0" sz="1300">
                <a:solidFill>
                  <a:srgbClr val="282828"/>
                </a:solidFill>
                <a:latin typeface="Arial"/>
              </a:rPr>
              <a:t>5-layer modular alternative-format architecture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06. System Architecture: </a:t>
            </a:r>
            <a:r>
              <a:rPr b="0" sz="1300">
                <a:solidFill>
                  <a:srgbClr val="282828"/>
                </a:solidFill>
                <a:latin typeface="Arial"/>
              </a:rPr>
              <a:t>End-to-end data pipeline flow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07. Workflow &amp; Data Strategy: </a:t>
            </a:r>
            <a:r>
              <a:rPr b="0" sz="1300">
                <a:solidFill>
                  <a:srgbClr val="282828"/>
                </a:solidFill>
                <a:latin typeface="Arial"/>
              </a:rPr>
              <a:t>Multi-dataset ingestion across 5 raw folders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08. Seven Core Features: </a:t>
            </a:r>
            <a:r>
              <a:rPr b="0" sz="1300">
                <a:solidFill>
                  <a:srgbClr val="282828"/>
                </a:solidFill>
                <a:latin typeface="Arial"/>
              </a:rPr>
              <a:t>Overview of F1 through F7 modules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54496" y="10515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2060"/>
                </a:solidFill>
              </a:defRPr>
            </a:pPr>
            <a:r>
              <a:t>Implementation &amp; Verification Results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09. Feature F1: </a:t>
            </a:r>
            <a:r>
              <a:rPr b="0" sz="1300">
                <a:solidFill>
                  <a:srgbClr val="282828"/>
                </a:solidFill>
                <a:latin typeface="Arial"/>
              </a:rPr>
              <a:t>Stream Health &amp; Priority-1 checks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10. Feature F2: </a:t>
            </a:r>
            <a:r>
              <a:rPr b="0" sz="1300">
                <a:solidFill>
                  <a:srgbClr val="282828"/>
                </a:solidFill>
                <a:latin typeface="Arial"/>
              </a:rPr>
              <a:t>AI Anomaly Detection via Isolation Forest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11. Feature F3: </a:t>
            </a:r>
            <a:r>
              <a:rPr b="0" sz="1300">
                <a:solidFill>
                  <a:srgbClr val="282828"/>
                </a:solidFill>
                <a:latin typeface="Arial"/>
              </a:rPr>
              <a:t>Pattern Detection &amp; Shannon Entropy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12. Feature F4: </a:t>
            </a:r>
            <a:r>
              <a:rPr b="0" sz="1300">
                <a:solidFill>
                  <a:srgbClr val="282828"/>
                </a:solidFill>
                <a:latin typeface="Arial"/>
              </a:rPr>
              <a:t>Spatial Activity Timeline &amp; HTML Dashboards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13. Feature F5: </a:t>
            </a:r>
            <a:r>
              <a:rPr b="0" sz="1300">
                <a:solidFill>
                  <a:srgbClr val="282828"/>
                </a:solidFill>
                <a:latin typeface="Arial"/>
              </a:rPr>
              <a:t>Diagnostic Anomaly Explanations (Signed Z-Score)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14. Feature F6: </a:t>
            </a:r>
            <a:r>
              <a:rPr b="0" sz="1300">
                <a:solidFill>
                  <a:srgbClr val="282828"/>
                </a:solidFill>
                <a:latin typeface="Arial"/>
              </a:rPr>
              <a:t>Stream Comparison Engine &amp; Semantic Audit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15. Feature F7: </a:t>
            </a:r>
            <a:r>
              <a:rPr b="0" sz="1300">
                <a:solidFill>
                  <a:srgbClr val="282828"/>
                </a:solidFill>
                <a:latin typeface="Arial"/>
              </a:rPr>
              <a:t>Automatic Multi-Format Diagnostic Reporting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16. Validation &amp; Results: </a:t>
            </a:r>
            <a:r>
              <a:rPr b="0" sz="1300">
                <a:solidFill>
                  <a:srgbClr val="282828"/>
                </a:solidFill>
                <a:latin typeface="Arial"/>
              </a:rPr>
              <a:t>240/240 Tests passing, Ground Truth Ledger, GitHub &amp; Roadmap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200" b="1">
                <a:solidFill>
                  <a:srgbClr val="002060"/>
                </a:solidFill>
                <a:latin typeface="Arial"/>
              </a:defRPr>
            </a:pPr>
            <a:r>
              <a:t>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</a:p>
        </p:txBody>
      </p:sp>
      <p:sp>
        <p:nvSpPr>
          <p:cNvPr id="98" name="TextBox 97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Format Heterogeneity: </a:t>
            </a:r>
            <a:r>
              <a:rPr b="0" sz="1400">
                <a:solidFill>
                  <a:srgbClr val="282828"/>
                </a:solidFill>
                <a:latin typeface="Arial"/>
              </a:rPr>
              <a:t>DVB-S2 receiver output streams exist across multiple alternative encapsulation layers (Baseband Frames, GSE packets, and MPEG Transport Streams), requiring fragmented, proprietary command-line utilities for inspection.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Lack of Intelligent Anomaly Detection: </a:t>
            </a:r>
            <a:r>
              <a:rPr b="0" sz="1400">
                <a:solidFill>
                  <a:srgbClr val="282828"/>
                </a:solidFill>
                <a:latin typeface="Arial"/>
              </a:rPr>
              <a:t>Conventional stream analyzers rely on basic static threshold checks, failing to detect subtle temporal anomalies, sudden jitter variations, corrupted modulation frames, or unexpected multiplex behaviors.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Absence of Unified Diagnostic Platforms: </a:t>
            </a:r>
            <a:r>
              <a:rPr b="0" sz="1400">
                <a:solidFill>
                  <a:srgbClr val="282828"/>
                </a:solidFill>
                <a:latin typeface="Arial"/>
              </a:rPr>
              <a:t>Existing open-source tools typically focus only on one isolated format (e.g., MPEG-TS only or PCAP inspection only) without providing unified health metrics, explainable AI diagnostics, comparative stream analysis, or automated report generation.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Need for Unified Software Workflow: </a:t>
            </a:r>
            <a:r>
              <a:rPr b="0" sz="1400">
                <a:solidFill>
                  <a:srgbClr val="282828"/>
                </a:solidFill>
                <a:latin typeface="Arial"/>
              </a:rPr>
              <a:t>An urgent operational requirement exists for an integrated software application capable of parsing all three native formats, evaluating stream integrity, detecting statistical anomalies, and delivering root-cause diagnostic explanations rather than raw packet dumps.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  <a:defRPr sz="2200" b="1">
                <a:solidFill>
                  <a:srgbClr val="002060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</a:p>
        </p:txBody>
      </p:sp>
      <p:sp>
        <p:nvSpPr>
          <p:cNvPr id="116" name="TextBox 115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1. Multi-Format Receiver Stream Ingestion: </a:t>
            </a:r>
            <a:r>
              <a:rPr b="0" sz="1400">
                <a:solidFill>
                  <a:srgbClr val="282828"/>
                </a:solidFill>
                <a:latin typeface="Arial"/>
              </a:rPr>
              <a:t>Ingest and parse native DVB-S2 receiver output streams across three alternative formats: Baseband (BB) Frames, GSE frames, and MPEG Transport Streams (TS).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2. Stream Health &amp; Integrity Assessment: </a:t>
            </a:r>
            <a:r>
              <a:rPr b="0" sz="1400">
                <a:solidFill>
                  <a:srgbClr val="282828"/>
                </a:solidFill>
                <a:latin typeface="Arial"/>
              </a:rPr>
              <a:t>Compute quantitative stream integrity indicators including packet loss rate, Continuity Counter (CC) error frequency, sync byte validation, and jitter.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3. Machine Learning Anomaly Detection: </a:t>
            </a:r>
            <a:r>
              <a:rPr b="0" sz="1400">
                <a:solidFill>
                  <a:srgbClr val="282828"/>
                </a:solidFill>
                <a:latin typeface="Arial"/>
              </a:rPr>
              <a:t>Deploy calibrated unsupervised machine learning algorithms (Isolation Forest with sigmoid score normalization) to identify irregular stream behavior and transmission degradation.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4. Structural Pattern &amp; Entropy Mining: </a:t>
            </a:r>
            <a:r>
              <a:rPr b="0" sz="1400">
                <a:solidFill>
                  <a:srgbClr val="282828"/>
                </a:solidFill>
                <a:latin typeface="Arial"/>
              </a:rPr>
              <a:t>Discover recurring patterns in stream transmission, PID multiplex allocations, modal Data Field Lengths (DFL), and Shannon entropy dynamics.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5. Interactive Visualization &amp; Explainable Diagnostics: </a:t>
            </a:r>
            <a:r>
              <a:rPr b="0" sz="1400">
                <a:solidFill>
                  <a:srgbClr val="282828"/>
                </a:solidFill>
                <a:latin typeface="Arial"/>
              </a:rPr>
              <a:t>Deliver dynamic spatial activity timelines, bounded signed Z-score feature attributions, differential stream comparisons, and automated multi-format diagnostic reports.</a:t>
            </a: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20CF3E6C-9D22-F1F7-4C96-42BCE8ACB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395F6BE3-C2E7-E383-C049-39CB89CBDC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defRPr sz="2200" b="1">
                <a:solidFill>
                  <a:srgbClr val="002060"/>
                </a:solidFill>
                <a:latin typeface="Arial"/>
              </a:defRPr>
            </a:pPr>
            <a:r>
              <a:t>LITERATURE / RESEARCH UNDERSTANDING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E2DF033-1663-A121-868A-192390F88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</a:p>
        </p:txBody>
      </p:sp>
      <p:sp>
        <p:nvSpPr>
          <p:cNvPr id="116" name="TextBox 115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DVB-S2 Standard Architecture (Morello &amp; Mignone, 2006): </a:t>
            </a:r>
            <a:r>
              <a:rPr b="0" sz="1400">
                <a:solidFill>
                  <a:srgbClr val="282828"/>
                </a:solidFill>
                <a:latin typeface="Arial"/>
              </a:rPr>
              <a:t>Pioneered the second-generation satellite broadcasting architecture (ETSI EN 302 307), defining physical/link framing, MODCOD adaptation, BBHeader structure, and CRC-8 integrity.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Adaptive Coding &amp; GSE Encapsulation (Albertazzi 2005, Cantillo 2007/2008): </a:t>
            </a:r>
            <a:r>
              <a:rPr b="0" sz="1400">
                <a:solidFill>
                  <a:srgbClr val="282828"/>
                </a:solidFill>
                <a:latin typeface="Arial"/>
              </a:rPr>
              <a:t>Investigated Adaptive Coding and Modulation (ACM) and Generic Stream Encapsulation (ETSI TS 102 606) for efficient IP transport over DVB-S2 continuous generic streams.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Satellite Telemetry Anomaly Detection (Arbon 2018, Pan 2020, Hundman 2018): </a:t>
            </a:r>
            <a:r>
              <a:rPr b="0" sz="1400">
                <a:solidFill>
                  <a:srgbClr val="282828"/>
                </a:solidFill>
                <a:latin typeface="Arial"/>
              </a:rPr>
              <a:t>Evaluated unsupervised tree-based models and LSTM networks for spacecraft telemetry, establishing that tree ensembles achieve robust anomaly detection without catastrophic deep-learning false positives.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Explainable AI &amp; Diagnostic Attribution (Zeng 2022, Wang 2023): </a:t>
            </a:r>
            <a:r>
              <a:rPr b="0" sz="1400">
                <a:solidFill>
                  <a:srgbClr val="282828"/>
                </a:solidFill>
                <a:latin typeface="Arial"/>
              </a:rPr>
              <a:t>Demonstrated feature-attention mechanisms and causal attribution for interpreting telemetry deviations, reinforcing the need for interpretable Z-score feature attributions in stream diagnostics.</a:t>
            </a:r>
          </a:p>
        </p:txBody>
      </p:sp>
    </p:spTree>
    <p:extLst>
      <p:ext uri="{BB962C8B-B14F-4D97-AF65-F5344CB8AC3E}">
        <p14:creationId xmlns:p14="http://schemas.microsoft.com/office/powerpoint/2010/main" val="181365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66D0BC35-19ED-73A9-EE75-1137E39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BB17B24-7E10-E0D9-F0F4-797FC7D4A3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algn="just">
              <a:lnSpc>
                <a:spcPct val="200000"/>
              </a:lnSpc>
              <a:defRPr sz="2200" b="1">
                <a:solidFill>
                  <a:srgbClr val="002060"/>
                </a:solidFill>
                <a:latin typeface="Arial"/>
              </a:defRPr>
            </a:pPr>
            <a:r>
              <a:t>RESEARCH GAP ADDRESSED BY PRJ_111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B656EE7D-C165-CFED-D8E1-B5E966F08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13816" y="10515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2060"/>
                </a:solidFill>
              </a:defRPr>
            </a:pPr>
            <a:r>
              <a:t>Limitations of Existing Tools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Protocol Inspection (Wireshark/TSDuck): </a:t>
            </a:r>
            <a:r>
              <a:rPr b="0" sz="1300">
                <a:solidFill>
                  <a:srgbClr val="282828"/>
                </a:solidFill>
                <a:latin typeface="Arial"/>
              </a:rPr>
              <a:t>Manual packet inspection tools lack automated ML anomaly detection, timeline tracking, and executive report compilation.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Physical RF Signal Research: </a:t>
            </a:r>
            <a:r>
              <a:rPr b="0" sz="1300">
                <a:solidFill>
                  <a:srgbClr val="282828"/>
                </a:solidFill>
                <a:latin typeface="Arial"/>
              </a:rPr>
              <a:t>Focuses strictly on raw I/Q samples and modulation recognition (QPSK/8PSK), operating below the de-encapsulated digital stream layer.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Generic Network NIDS: </a:t>
            </a:r>
            <a:r>
              <a:rPr b="0" sz="1300">
                <a:solidFill>
                  <a:srgbClr val="282828"/>
                </a:solidFill>
                <a:latin typeface="Arial"/>
              </a:rPr>
              <a:t>Designed for IP Ethernet traffic; unsuited for native DVB-S2 link framing (BBHeaders, GSE fragmentation, MPEG-TS PIDs).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54496" y="10515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2060"/>
                </a:solidFill>
              </a:defRPr>
            </a:pPr>
            <a:r>
              <a:t>PRJ_111 Engineering Solution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Multi-Format Integration: </a:t>
            </a:r>
            <a:r>
              <a:rPr b="0" sz="1300">
                <a:solidFill>
                  <a:srgbClr val="282828"/>
                </a:solidFill>
                <a:latin typeface="Arial"/>
              </a:rPr>
              <a:t>First unified framework accepting BBFrame, GSE, and MPEG-TS post-demodulation streams.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Automated ML Anomaly Detection: </a:t>
            </a:r>
            <a:r>
              <a:rPr b="0" sz="1300">
                <a:solidFill>
                  <a:srgbClr val="282828"/>
                </a:solidFill>
                <a:latin typeface="Arial"/>
              </a:rPr>
              <a:t>Calibrated Isolation Forest with sigmoid normalization and rolling spatial windowing.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Semantic Cross-Format Audit: </a:t>
            </a:r>
            <a:r>
              <a:rPr b="0" sz="1300">
                <a:solidFill>
                  <a:srgbClr val="282828"/>
                </a:solidFill>
                <a:latin typeface="Arial"/>
              </a:rPr>
              <a:t>Strictly guards metric comparability to prevent invalid cross-format conclusions.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Automated Tripartite Reporting: </a:t>
            </a:r>
            <a:r>
              <a:rPr b="0" sz="1300">
                <a:solidFill>
                  <a:srgbClr val="282828"/>
                </a:solidFill>
                <a:latin typeface="Arial"/>
              </a:rPr>
              <a:t>Compiles executive reports in JSON, Markdown, Plain Text, and offline HTML5.</a:t>
            </a:r>
          </a:p>
        </p:txBody>
      </p:sp>
    </p:spTree>
    <p:extLst>
      <p:ext uri="{BB962C8B-B14F-4D97-AF65-F5344CB8AC3E}">
        <p14:creationId xmlns:p14="http://schemas.microsoft.com/office/powerpoint/2010/main" val="396635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8B1B47-DF01-E1F4-26F3-14B9F826E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3128998-8B2C-F90B-C9A2-EF57AD9682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  <a:defRPr sz="2200" b="1">
                <a:solidFill>
                  <a:srgbClr val="002060"/>
                </a:solidFill>
                <a:latin typeface="Arial"/>
              </a:defRPr>
            </a:pPr>
            <a:r>
              <a:t>PROPOSED METHODOLOGY &amp; ARCHITECTURE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5B056FAF-9BF2-46B4-CC0B-9C32D2D94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</a:p>
        </p:txBody>
      </p:sp>
      <p:sp>
        <p:nvSpPr>
          <p:cNvPr id="116" name="TextBox 115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Foundational Architectural Principle: </a:t>
            </a:r>
            <a:r>
              <a:rPr b="0" sz="1400">
                <a:solidFill>
                  <a:srgbClr val="282828"/>
                </a:solidFill>
                <a:latin typeface="Arial"/>
              </a:rPr>
              <a:t>Baseband Frames (BBFrame), Generic Stream Encapsulation (GSE), and MPEG Transport Stream (TS) are treated as native alternative receiver output formats, NOT a mandatory sequential conversion pipeline (BBFrame → GSE → TS).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1. Ingestion Layer: </a:t>
            </a:r>
            <a:r>
              <a:rPr b="0" sz="1400">
                <a:solidFill>
                  <a:srgbClr val="282828"/>
                </a:solidFill>
                <a:latin typeface="Arial"/>
              </a:rPr>
              <a:t>Multi-tier magic-byte &amp; heuristic format sniffer automatically dispatches incoming streams to dedicated native parsers.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2. Parsing &amp; Preprocessing Layer: </a:t>
            </a:r>
            <a:r>
              <a:rPr b="0" sz="1400">
                <a:solidFill>
                  <a:srgbClr val="282828"/>
                </a:solidFill>
                <a:latin typeface="Arial"/>
              </a:rPr>
              <a:t>Robust binary parsers extract 188B TS packets, variable GSE PDUs, and 10B BBHeaders with table-driven CRC-8 verification.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3. Feature Extraction Layer: </a:t>
            </a:r>
            <a:r>
              <a:rPr b="0" sz="1400">
                <a:solidFill>
                  <a:srgbClr val="282828"/>
                </a:solidFill>
                <a:latin typeface="Arial"/>
              </a:rPr>
              <a:t>Standardized feature extractor constructs CommonMetrics and format-specific telemetry without cross-format flattening.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4. Intelligent Analysis Engine: </a:t>
            </a:r>
            <a:r>
              <a:rPr b="0" sz="1400">
                <a:solidFill>
                  <a:srgbClr val="282828"/>
                </a:solidFill>
                <a:latin typeface="Arial"/>
              </a:rPr>
              <a:t>Houses F1 Health Engine, F2 Isolation Forest, F3 Pattern Detector, and F5 Signed Z-Score Diagnostic Explainer.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5. Application &amp; Reporting Layer: </a:t>
            </a:r>
            <a:r>
              <a:rPr b="0" sz="1400">
                <a:solidFill>
                  <a:srgbClr val="282828"/>
                </a:solidFill>
                <a:latin typeface="Arial"/>
              </a:rPr>
              <a:t>Houses F4 Spatial Offset Timelines, F6 Stream Comparison Engine, and F7 Executive Diagnostic Report Generator.</a:t>
            </a:r>
          </a:p>
        </p:txBody>
      </p:sp>
    </p:spTree>
    <p:extLst>
      <p:ext uri="{BB962C8B-B14F-4D97-AF65-F5344CB8AC3E}">
        <p14:creationId xmlns:p14="http://schemas.microsoft.com/office/powerpoint/2010/main" val="385819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  <a:defRPr sz="2200" b="1">
                <a:solidFill>
                  <a:srgbClr val="002060"/>
                </a:solidFill>
                <a:latin typeface="Arial"/>
              </a:defRPr>
            </a:pPr>
            <a:r>
              <a:t>SYSTEM ARCHITECTURE DIAGRAM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SzPct val="100000"/>
              <a:buNone/>
            </a:pPr>
          </a:p>
        </p:txBody>
      </p:sp>
      <p:sp>
        <p:nvSpPr>
          <p:cNvPr id="116" name="TextBox 115"/>
          <p:cNvSpPr txBox="1"/>
          <p:nvPr/>
        </p:nvSpPr>
        <p:spPr>
          <a:xfrm>
            <a:off x="813816" y="10515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Layer 1: Stream Ingestion: </a:t>
            </a:r>
            <a:r>
              <a:rPr b="0" sz="1300">
                <a:solidFill>
                  <a:srgbClr val="282828"/>
                </a:solidFill>
                <a:latin typeface="Arial"/>
              </a:rPr>
              <a:t>Native receiver captures (.ts, .pcap, .bin) ingested with automatic format sniffing.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Layer 2: Format Parsers: </a:t>
            </a:r>
            <a:r>
              <a:rPr b="0" sz="1300">
                <a:solidFill>
                  <a:srgbClr val="282828"/>
                </a:solidFill>
                <a:latin typeface="Arial"/>
              </a:rPr>
              <a:t>Dedicated parsers for MPEG-TS, GSE PDUs, and DVB-S2 BBFrames with table CRC-8.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Layer 3: Unified Features: </a:t>
            </a:r>
            <a:r>
              <a:rPr b="0" sz="1300">
                <a:solidFill>
                  <a:srgbClr val="282828"/>
                </a:solidFill>
                <a:latin typeface="Arial"/>
              </a:rPr>
              <a:t>Extracts CommonMetrics and format-specific structural metrics.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Layer 4: AI &amp; Diagnostics: </a:t>
            </a:r>
            <a:r>
              <a:rPr b="0" sz="1300">
                <a:solidFill>
                  <a:srgbClr val="282828"/>
                </a:solidFill>
                <a:latin typeface="Arial"/>
              </a:rPr>
              <a:t>F1 Health scoring, F2 Isolation Forest anomaly detection, F3 Pattern/Entropy mining, F5 Z-score explainer.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Layer 5: Application Output: </a:t>
            </a:r>
            <a:r>
              <a:rPr b="0" sz="1300">
                <a:solidFill>
                  <a:srgbClr val="282828"/>
                </a:solidFill>
                <a:latin typeface="Arial"/>
              </a:rPr>
              <a:t>F4 Timelines, F6 Semantic Comparisons, and F7 Executive Reports.</a:t>
            </a:r>
          </a:p>
        </p:txBody>
      </p:sp>
      <p:pic>
        <p:nvPicPr>
          <p:cNvPr id="117" name="Picture 116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234440"/>
            <a:ext cx="4937760" cy="3506665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6437376" y="4786825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282828"/>
                </a:solidFill>
              </a:defRPr>
            </a:pPr>
            <a:r>
              <a:t>Figure 1: PRJ_111 Layered System Architecture &amp; Data Flow Pipeline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  <a:defRPr sz="2200" b="1">
                <a:solidFill>
                  <a:srgbClr val="002060"/>
                </a:solidFill>
                <a:latin typeface="Arial"/>
              </a:defRPr>
            </a:pPr>
            <a:r>
              <a:t>END-TO-END PROCESSING PIPELINE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</a:p>
        </p:txBody>
      </p:sp>
      <p:sp>
        <p:nvSpPr>
          <p:cNvPr id="116" name="TextBox 115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Step 1: Stream Ingestion &amp; Sniffing: </a:t>
            </a:r>
            <a:r>
              <a:rPr b="0" sz="1400">
                <a:solidFill>
                  <a:srgbClr val="282828"/>
                </a:solidFill>
                <a:latin typeface="Arial"/>
              </a:rPr>
              <a:t>StreamHandler inspects binary headers to auto-detect stream type and dispatches to TSParser, GSEParser, or BBFrameParser.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Step 2: Deterministic Binary Parsing: </a:t>
            </a:r>
            <a:r>
              <a:rPr b="0" sz="1400">
                <a:solidFill>
                  <a:srgbClr val="282828"/>
                </a:solidFill>
                <a:latin typeface="Arial"/>
              </a:rPr>
              <a:t>Parses framing headers, checks sync byte 0x47, validates CC sequence, extracts GSE PDUs, or checks BBHeader CRC-8.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Step 3: Feature Extraction &amp; Windowing: </a:t>
            </a:r>
            <a:r>
              <a:rPr b="0" sz="1400">
                <a:solidFill>
                  <a:srgbClr val="282828"/>
                </a:solidFill>
                <a:latin typeface="Arial"/>
              </a:rPr>
              <a:t>Calculates payload byte volumes, error counts, and aggregates stream telemetry into rolling spatial windowing blocks.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Step 4: AI Anomaly &amp; Pattern Mining: </a:t>
            </a:r>
            <a:r>
              <a:rPr b="0" sz="1400">
                <a:solidFill>
                  <a:srgbClr val="282828"/>
                </a:solidFill>
                <a:latin typeface="Arial"/>
              </a:rPr>
              <a:t>Executes F1 Priority-1 health scoring, F2 Isolation Forest inference, F3 Shannon entropy calculation, and F5 Z-score attribution.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Step 5: Differential Audit &amp; Report Synthesis: </a:t>
            </a:r>
            <a:r>
              <a:rPr b="0" sz="1400">
                <a:solidFill>
                  <a:srgbClr val="282828"/>
                </a:solidFill>
                <a:latin typeface="Arial"/>
              </a:rPr>
              <a:t>Executes F6 semantic cross-format audit and F7 multi-renderer executive report generation (JSON/MD/TXT/HTML).</a:t>
            </a: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200" b="1">
                <a:solidFill>
                  <a:srgbClr val="002060"/>
                </a:solidFill>
                <a:latin typeface="Arial"/>
              </a:defRPr>
            </a:pPr>
            <a:r>
              <a:t>DATASET STRATEGY &amp; RECEIVER OUTPUT FORMATS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01_BBFRAME_GSE/ (BBFrame Dataset): </a:t>
            </a:r>
            <a:r>
              <a:rPr b="0" sz="1400">
                <a:solidFill>
                  <a:srgbClr val="282828"/>
                </a:solidFill>
                <a:latin typeface="Arial"/>
              </a:rPr>
              <a:t>dvb-s2_bb_example.pcap (2.35 MB, 4,309 BBFrames) — Real DVB-S2 Baseband validation capture for link-layer header analysis.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02_GSE/ (GSE Dataset): </a:t>
            </a:r>
            <a:r>
              <a:rPr b="0" sz="1400">
                <a:solidFill>
                  <a:srgbClr val="282828"/>
                </a:solidFill>
                <a:latin typeface="Arial"/>
              </a:rPr>
              <a:t>GSExtract/sample.ts (9,324 B, 14 PDUs) — Real GSE encapsulation validation capture for IP PDU de-encapsulation.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03_TS/ (MPEG-TS Dataset): </a:t>
            </a:r>
            <a:r>
              <a:rPr b="0" sz="1400">
                <a:solidFill>
                  <a:srgbClr val="282828"/>
                </a:solidFill>
                <a:latin typeface="Arial"/>
              </a:rPr>
              <a:t>DVBS2_toolkit/sample.ts (3.42 MB, 18,176 pkts) + Astra 19.2°E satellite captures — Real MPEG-TS transport stream validation data.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04_RFI_AI/ &amp; 05_REAL_DVB_S2/ (Reference Archives): </a:t>
            </a:r>
            <a:r>
              <a:rPr b="0" sz="1400">
                <a:solidFill>
                  <a:srgbClr val="282828"/>
                </a:solidFill>
                <a:latin typeface="Arial"/>
              </a:rPr>
              <a:t>Blockstream over-the-air DVB-S2 capture (blockstream.ts &amp; ip_packets.pcap) + RFI reference data archives for AI feature exploration.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Data Retention &amp; Security Policy: </a:t>
            </a:r>
            <a:r>
              <a:rPr b="0" sz="1400">
                <a:solidFill>
                  <a:srgbClr val="282828"/>
                </a:solidFill>
                <a:latin typeface="Arial"/>
              </a:rPr>
              <a:t>All raw binary datasets are retained locally on dev workstations and excluded from GitHub via .gitignore adhering to best practices.</a:t>
            </a: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defRPr sz="2200" b="1">
                <a:solidFill>
                  <a:srgbClr val="002060"/>
                </a:solidFill>
                <a:latin typeface="Arial"/>
              </a:defRPr>
            </a:pPr>
            <a:r>
              <a:t>SEVEN CORE TARGET FEATURES (F1–F7)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>
              <a:spcBef>
                <a:spcPts val="0"/>
              </a:spcBef>
              <a:buFont typeface="Wingdings" panose="05000000000000000000" pitchFamily="2" charset="2"/>
              <a:buChar char="Ø"/>
            </a:pPr>
          </a:p>
        </p:txBody>
      </p:sp>
      <p:sp>
        <p:nvSpPr>
          <p:cNvPr id="146" name="TextBox 145"/>
          <p:cNvSpPr txBox="1"/>
          <p:nvPr/>
        </p:nvSpPr>
        <p:spPr>
          <a:xfrm>
            <a:off x="813816" y="10515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2060"/>
                </a:solidFill>
              </a:defRPr>
            </a:pPr>
            <a:r>
              <a:t>Core Analytical Engines (F1–F4)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F1: Stream Health Analysis: </a:t>
            </a:r>
            <a:r>
              <a:rPr b="0" sz="1300">
                <a:solidFill>
                  <a:srgbClr val="282828"/>
                </a:solidFill>
                <a:latin typeface="Arial"/>
              </a:rPr>
              <a:t>Quantifies transmission quality via ETSI TR 101 290 Priority-1 checks and 0–100 health scoring.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F2: AI Anomaly Detection: </a:t>
            </a:r>
            <a:r>
              <a:rPr b="0" sz="1300">
                <a:solidFill>
                  <a:srgbClr val="282828"/>
                </a:solidFill>
                <a:latin typeface="Arial"/>
              </a:rPr>
              <a:t>Unsupervised Isolation Forest (c=0.05) flagging atypical stream deviations with sigmoid normalization.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F3: Pattern Detection: </a:t>
            </a:r>
            <a:r>
              <a:rPr b="0" sz="1300">
                <a:solidFill>
                  <a:srgbClr val="282828"/>
                </a:solidFill>
                <a:latin typeface="Arial"/>
              </a:rPr>
              <a:t>Identifies recurring PID shares, modal DFL sizing, protocol distributions, and Shannon entropy.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F4: Spatial Activity Timeline: </a:t>
            </a:r>
            <a:r>
              <a:rPr b="0" sz="1300">
                <a:solidFill>
                  <a:srgbClr val="282828"/>
                </a:solidFill>
                <a:latin typeface="Arial"/>
              </a:rPr>
              <a:t>Visualizes stream activity, bandwidth consumption, and error events over physical byte offsets.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254496" y="10515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2060"/>
                </a:solidFill>
              </a:defRPr>
            </a:pPr>
            <a:r>
              <a:t>Diagnostic &amp; Reporting Engines (F5–F7)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F5: Anomaly Explanation: </a:t>
            </a:r>
            <a:r>
              <a:rPr b="0" sz="1300">
                <a:solidFill>
                  <a:srgbClr val="282828"/>
                </a:solidFill>
                <a:latin typeface="Arial"/>
              </a:rPr>
              <a:t>Delivers bounded signed Z-score attributions mapping deviations to physical subsystems.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F6: Stream Comparison Engine: </a:t>
            </a:r>
            <a:r>
              <a:rPr b="0" sz="1300">
                <a:solidFill>
                  <a:srgbClr val="282828"/>
                </a:solidFill>
                <a:latin typeface="Arial"/>
              </a:rPr>
              <a:t>Side-by-side differential analysis enforcing a semantic audit to prevent invalid cross-format metric comparison.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F7: Automatic Analysis Report: </a:t>
            </a:r>
            <a:r>
              <a:rPr b="0" sz="1300">
                <a:solidFill>
                  <a:srgbClr val="282828"/>
                </a:solidFill>
                <a:latin typeface="Arial"/>
              </a:rPr>
              <a:t>Generates consolidated executive diagnostic reports across JSON, Markdown, Plain Text, and offline HTML5.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" y="274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F1 — STREAM HEALTH AND PRIORITY-1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Priority-1 Stream Integrity Checks: </a:t>
            </a:r>
            <a:r>
              <a:rPr b="0" sz="1400">
                <a:solidFill>
                  <a:srgbClr val="282828"/>
                </a:solidFill>
                <a:latin typeface="Arial"/>
              </a:rPr>
              <a:t>Evaluates ETSI TR 101 290 Priority-1 indicators: MPEG-TS sync byte consistency (0x47), Continuity Counter (CC) errors, Transport Error Indicator (TEI) flags, and BBHeader CRC-8 checks.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Objective Health Scoring Equation: </a:t>
            </a:r>
            <a:r>
              <a:rPr b="0" sz="1400">
                <a:solidFill>
                  <a:srgbClr val="282828"/>
                </a:solidFill>
                <a:latin typeface="Arial"/>
              </a:rPr>
              <a:t>S_health = 100.0 - sum(penalties), strictly bounded within [0.0, 100.0]. Classifies streams into HEALTHY [90-100], DEGRADED [60-89], or CRITICAL [0-59].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Empirical Baseline Validation: </a:t>
            </a:r>
            <a:r>
              <a:rPr b="0" sz="1400">
                <a:solidFill>
                  <a:srgbClr val="282828"/>
                </a:solidFill>
                <a:latin typeface="Arial"/>
              </a:rPr>
              <a:t>All real-world validation captures (sample.ts, dvb-s2_bb_example.pcap, GSExtract/sample.ts) achieved 100.00 / 100 (HEALTHY) with zero framing errors.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Controlled Fault Injection: </a:t>
            </a:r>
            <a:r>
              <a:rPr b="0" sz="1400">
                <a:solidFill>
                  <a:srgbClr val="282828"/>
                </a:solidFill>
                <a:latin typeface="Arial"/>
              </a:rPr>
              <a:t>Synthetic error injection verified that CC sequence breaks, sync byte corruption, and CRC-8 failures cleanly trigger objective health score penalties.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F2 — AI-BASED ANOMALY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Algorithm &amp; Configuration: </a:t>
            </a:r>
            <a:r>
              <a:rPr b="0" sz="1300">
                <a:solidFill>
                  <a:srgbClr val="282828"/>
                </a:solidFill>
                <a:latin typeface="Arial"/>
              </a:rPr>
              <a:t>Unsupervised Isolation Forest ensemble (contamination factor c=0.05, format-specific rolling windowing).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Sigmoid Score Normalization: </a:t>
            </a:r>
            <a:r>
              <a:rPr b="0" sz="1300">
                <a:solidFill>
                  <a:srgbClr val="282828"/>
                </a:solidFill>
                <a:latin typeface="Arial"/>
              </a:rPr>
              <a:t>Raw tree decision scores mapped to [0.0, 1.0]: S_norm = 1 / (1 + e^-k(s_raw - theta)).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MPEG-TS Anomaly Results: </a:t>
            </a:r>
            <a:r>
              <a:rPr b="0" sz="1300">
                <a:solidFill>
                  <a:srgbClr val="282828"/>
                </a:solidFill>
                <a:latin typeface="Arial"/>
              </a:rPr>
              <a:t>91 windows (w=200 pkts): 5 anomalous windows [1, 2, 12, 88, 90], Peak Score = 0.8576 (EOF boundary).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BBFrame Anomaly Results: </a:t>
            </a:r>
            <a:r>
              <a:rPr b="0" sz="1300">
                <a:solidFill>
                  <a:srgbClr val="282828"/>
                </a:solidFill>
                <a:latin typeface="Arial"/>
              </a:rPr>
              <a:t>87 windows (w=50 frames): 5 anomalous windows [0, 83, 84, 85, 86], Peak Score = 0.7406 (EOF boundary).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GSE Anomaly Results: </a:t>
            </a:r>
            <a:r>
              <a:rPr b="0" sz="1300">
                <a:solidFill>
                  <a:srgbClr val="282828"/>
                </a:solidFill>
                <a:latin typeface="Arial"/>
              </a:rPr>
              <a:t>5 windows (w=3 PDUs): 1 anomalous window [4], Peak Score = 0.5018 (EOF boundary).</a:t>
            </a:r>
          </a:p>
        </p:txBody>
      </p:sp>
      <p:pic>
        <p:nvPicPr>
          <p:cNvPr id="5" name="Picture 4" descr="fig_anomaly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234440"/>
            <a:ext cx="4937760" cy="3664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7376" y="49449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282828"/>
                </a:solidFill>
              </a:defRPr>
            </a:pPr>
            <a:r>
              <a:t>Figure 2: F2 Interactive Anomaly Detection Interface &amp; Score Trajectory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F3 — PATTERN DETECTION &amp; SHANNON ENTROPY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Operational Behavior Profiling: </a:t>
            </a:r>
            <a:r>
              <a:rPr b="0" sz="1400">
                <a:solidFill>
                  <a:srgbClr val="282828"/>
                </a:solidFill>
                <a:latin typeface="Arial"/>
              </a:rPr>
              <a:t>Tracks multiplex allocations, modal sizing, protocol shares, and structural transitions over rolling windows.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Shannon Entropy Calculation: </a:t>
            </a:r>
            <a:r>
              <a:rPr b="0" sz="1400">
                <a:solidFill>
                  <a:srgbClr val="282828"/>
                </a:solidFill>
                <a:latin typeface="Arial"/>
              </a:rPr>
              <a:t>H(X) = -sum(P(x_i) * log2(P(x_i))) measures information uncertainty and multiplex randomness.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MPEG-TS Dominant PID &amp; Entropy: </a:t>
            </a:r>
            <a:r>
              <a:rPr b="0" sz="1400">
                <a:solidFill>
                  <a:srgbClr val="282828"/>
                </a:solidFill>
                <a:latin typeface="Arial"/>
              </a:rPr>
              <a:t>Dominant PID 256 (98.5% multiplex share), Shannon entropy = 0.1361 bits (highly concentrated video broadcast multiplex).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GSE Protocol Distribution: </a:t>
            </a:r>
            <a:r>
              <a:rPr b="0" sz="1400">
                <a:solidFill>
                  <a:srgbClr val="282828"/>
                </a:solidFill>
                <a:latin typeface="Arial"/>
              </a:rPr>
              <a:t>Dominant protocol GSE_EXT_NPA (100.0% share), Shannon entropy = 0.0000 bits (single-protocol transport stream).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BBFrame Modal Sizing: </a:t>
            </a:r>
            <a:r>
              <a:rPr b="0" sz="1400">
                <a:solidFill>
                  <a:srgbClr val="282828"/>
                </a:solidFill>
                <a:latin typeface="Arial"/>
              </a:rPr>
              <a:t>Modal Data Field Length (DFL) = 8304 bits (92.0% share), reflecting uniform physical frame packaging.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F4 — SPATIAL ACTIVITY TIMELINE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Physical Offset Indexing: </a:t>
            </a:r>
            <a:r>
              <a:rPr b="0" sz="1300">
                <a:solidFill>
                  <a:srgbClr val="282828"/>
                </a:solidFill>
                <a:latin typeface="Arial"/>
              </a:rPr>
              <a:t>Indexes stream activity over physical byte offsets and sequential unit indices, avoiding wall-clock clock fabrication.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Time-Series Metric Extraction: </a:t>
            </a:r>
            <a:r>
              <a:rPr b="0" sz="1300">
                <a:solidFill>
                  <a:srgbClr val="282828"/>
                </a:solidFill>
                <a:latin typeface="Arial"/>
              </a:rPr>
              <a:t>Continuously tracks rolling health score, anomaly score trajectory, and payload byte density.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Event Mapping Engine: </a:t>
            </a:r>
            <a:r>
              <a:rPr b="0" sz="1300">
                <a:solidFill>
                  <a:srgbClr val="282828"/>
                </a:solidFill>
                <a:latin typeface="Arial"/>
              </a:rPr>
              <a:t>Automatically flags health drops, anomaly peaks, and structural transitions on the spatial axis.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Standalone Interactive Dashboard: </a:t>
            </a:r>
            <a:r>
              <a:rPr b="0" sz="1300">
                <a:solidFill>
                  <a:srgbClr val="282828"/>
                </a:solidFill>
                <a:latin typeface="Arial"/>
              </a:rPr>
              <a:t>Compiles self-contained HTML5 dashboards with embedded CSS for responsive offline operator inspection.</a:t>
            </a:r>
          </a:p>
        </p:txBody>
      </p:sp>
      <p:pic>
        <p:nvPicPr>
          <p:cNvPr id="5" name="Picture 4" descr="fig_timeline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234440"/>
            <a:ext cx="4937760" cy="3664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7376" y="49449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282828"/>
                </a:solidFill>
              </a:defRPr>
            </a:pPr>
            <a:r>
              <a:t>Figure 3: F4 Spatial Activity Timeline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F5 — DIAGNOSTIC ANOMALY EXPLANATIONS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Explainable AI Mechanism: </a:t>
            </a:r>
            <a:r>
              <a:rPr b="0" sz="1400">
                <a:solidFill>
                  <a:srgbClr val="282828"/>
                </a:solidFill>
                <a:latin typeface="Arial"/>
              </a:rPr>
              <a:t>Computes bounded signed Z-scores: Z_i = (x_i - mu_i) / max(sigma_i, sigma_min), capped at [-20.0, +20.0].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Physical Subsystem Mapping: </a:t>
            </a:r>
            <a:r>
              <a:rPr b="0" sz="1400">
                <a:solidFill>
                  <a:srgbClr val="282828"/>
                </a:solidFill>
                <a:latin typeface="Arial"/>
              </a:rPr>
              <a:t>Maps deviated feature Z-scores directly to physical satellite stream subsystems: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dominant_pid: </a:t>
            </a:r>
            <a:r>
              <a:rPr b="0" sz="1400">
                <a:solidFill>
                  <a:srgbClr val="282828"/>
                </a:solidFill>
                <a:latin typeface="Arial"/>
              </a:rPr>
              <a:t>MPEG-TS Multiplex / Dominant PID Allocation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null_packet_ratio: </a:t>
            </a:r>
            <a:r>
              <a:rPr b="0" sz="1400">
                <a:solidFill>
                  <a:srgbClr val="282828"/>
                </a:solidFill>
                <a:latin typeface="Arial"/>
              </a:rPr>
              <a:t>Bandwidth Adaptation / Null Stuffing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crc_error_count: </a:t>
            </a:r>
            <a:r>
              <a:rPr b="0" sz="1400">
                <a:solidFill>
                  <a:srgbClr val="282828"/>
                </a:solidFill>
                <a:latin typeface="Arial"/>
              </a:rPr>
              <a:t>Baseband Header Integrity / CRC Checksum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modal_dfl_bits: </a:t>
            </a:r>
            <a:r>
              <a:rPr b="0" sz="1400">
                <a:solidFill>
                  <a:srgbClr val="282828"/>
                </a:solidFill>
                <a:latin typeface="Arial"/>
              </a:rPr>
              <a:t>Frame Sizing / Mode Adaptation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Ranked Diagnostic Synthesis: </a:t>
            </a:r>
            <a:r>
              <a:rPr b="0" sz="1400">
                <a:solidFill>
                  <a:srgbClr val="282828"/>
                </a:solidFill>
                <a:latin typeface="Arial"/>
              </a:rPr>
              <a:t>Ranks features by |Z| and generates evidence-grounded explanatory sentences for operators.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F6 — STREAM COMPARISON &amp; SEMANTIC AUDIT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Semantic Cross-Format Audit: </a:t>
            </a:r>
            <a:r>
              <a:rPr b="0" sz="1300">
                <a:solidFill>
                  <a:srgbClr val="282828"/>
                </a:solidFill>
                <a:latin typeface="Arial"/>
              </a:rPr>
              <a:t>Enforces strict metric compatibility guard: 9 metrics barred cross-format (total_units, valid_units, mean_payload, etc.).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Cross-Format Comparable Metrics: </a:t>
            </a:r>
            <a:r>
              <a:rPr b="0" sz="1300">
                <a:solidFill>
                  <a:srgbClr val="282828"/>
                </a:solidFill>
                <a:latin typeface="Arial"/>
              </a:rPr>
              <a:t>Only total_payload_bytes and integrity_ratio are physically comparable across distinct formats.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MPEG-TS vs BBFrame Payload: </a:t>
            </a:r>
            <a:r>
              <a:rPr b="0" sz="1300">
                <a:solidFill>
                  <a:srgbClr val="282828"/>
                </a:solidFill>
                <a:latin typeface="Arial"/>
              </a:rPr>
              <a:t>MPEG-TS payload = 3,267,305 B, BBFrame payload = 1,958,826 B. Delta = -1,308,479 B (-40.05% SUBSTANTIAL shift).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Integrity Ratio Comparison: </a:t>
            </a:r>
            <a:r>
              <a:rPr b="0" sz="1300">
                <a:solidFill>
                  <a:srgbClr val="282828"/>
                </a:solidFill>
                <a:latin typeface="Arial"/>
              </a:rPr>
              <a:t>MPEG-TS integrity = 1.0000, BBFrame integrity = 1.0000 (EQUAL, perfect syntactic integrity across both captures).</a:t>
            </a:r>
          </a:p>
        </p:txBody>
      </p:sp>
      <p:pic>
        <p:nvPicPr>
          <p:cNvPr id="5" name="Picture 4" descr="fig_comparison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234440"/>
            <a:ext cx="4937760" cy="3664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7376" y="49449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282828"/>
                </a:solidFill>
              </a:defRPr>
            </a:pPr>
            <a:r>
              <a:t>Figure 4: F6 Stream Comparison Interface &amp; Differential Metrics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F7 — AUTOMATIC MULTI-FORMAT REPORTING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Non-Duplication Executive Synthesis: </a:t>
            </a:r>
            <a:r>
              <a:rPr b="0" sz="1300">
                <a:solidFill>
                  <a:srgbClr val="282828"/>
                </a:solidFill>
                <a:latin typeface="Arial"/>
              </a:rPr>
              <a:t>Directly consumes outputs from F1–F6 without re-parsing streams or re-running ML models.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Tripartite Findings Taxonomy: </a:t>
            </a:r>
            <a:r>
              <a:rPr b="0" sz="1300">
                <a:solidFill>
                  <a:srgbClr val="282828"/>
                </a:solidFill>
                <a:latin typeface="Arial"/>
              </a:rPr>
              <a:t>Categorizes every report finding into three epistemological registers: OBSERVED_FACT, STATISTICAL_FINDING, and ENGINEERING_INTERPRETATION.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Multi-Format Renderers: </a:t>
            </a:r>
            <a:r>
              <a:rPr b="0" sz="1300">
                <a:solidFill>
                  <a:srgbClr val="282828"/>
                </a:solidFill>
                <a:latin typeface="Arial"/>
              </a:rPr>
              <a:t>Exports comprehensive diagnostic reports in structured JSON, GitHub-Flavored Markdown, CP-1252-safe Plain Text, and offline HTML5.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Domain-Safety Guard: </a:t>
            </a:r>
            <a:r>
              <a:rPr b="0" sz="1300">
                <a:solidFill>
                  <a:srgbClr val="282828"/>
                </a:solidFill>
                <a:latin typeface="Arial"/>
              </a:rPr>
              <a:t>Immutable guard blocks speculative physical RF/hardware claims in generated report text.</a:t>
            </a:r>
          </a:p>
        </p:txBody>
      </p:sp>
      <p:pic>
        <p:nvPicPr>
          <p:cNvPr id="5" name="Picture 4" descr="fig_report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234440"/>
            <a:ext cx="4937760" cy="3664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7376" y="494490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282828"/>
                </a:solidFill>
              </a:defRPr>
            </a:pPr>
            <a:r>
              <a:t>Figure 5: F7 Executive Diagnostic Report Generator Interface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SYSTEM IMPLEMENTATION PROGRESS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Current Project Completion Status: </a:t>
            </a:r>
            <a:r>
              <a:rPr b="0" sz="1400">
                <a:solidFill>
                  <a:srgbClr val="282828"/>
                </a:solidFill>
                <a:latin typeface="Arial"/>
              </a:rPr>
              <a:t>Core implementation is substantially completed across F1–F7, with automated validation and demonstration outputs available. Backend features F1 through F7 are 100% implemented, audited, and frozen.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Stream Ingestion &amp; Sniffing: </a:t>
            </a:r>
            <a:r>
              <a:rPr b="0" sz="1400">
                <a:solidFill>
                  <a:srgbClr val="282828"/>
                </a:solidFill>
                <a:latin typeface="Arial"/>
              </a:rPr>
              <a:t>100% Completed &amp; Audited (Multi-tier format sniffer, 14 dedicated unit tests passing).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Multi-Format Parsers (TS / GSE / BBFrame): </a:t>
            </a:r>
            <a:r>
              <a:rPr b="0" sz="1400">
                <a:solidFill>
                  <a:srgbClr val="282828"/>
                </a:solidFill>
                <a:latin typeface="Arial"/>
              </a:rPr>
              <a:t>100% Completed &amp; Audited (61 dedicated unit tests passing, table-driven CRC-8 implemented).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Analytics &amp; AI Engines (F1–F7): </a:t>
            </a:r>
            <a:r>
              <a:rPr b="0" sz="1400">
                <a:solidFill>
                  <a:srgbClr val="282828"/>
                </a:solidFill>
                <a:latin typeface="Arial"/>
              </a:rPr>
              <a:t>100% Completed &amp; Audited (132 dedicated unit tests passing across health, anomaly, timeline, explanation, comparison, and reporting).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Automated Test Suite: </a:t>
            </a:r>
            <a:r>
              <a:rPr b="0" sz="1400">
                <a:solidFill>
                  <a:srgbClr val="282828"/>
                </a:solidFill>
                <a:latin typeface="Arial"/>
              </a:rPr>
              <a:t>100% Completed &amp; Verified (240/240 tests passing across backend and frontend).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AUTHORITATIVE GROUND TRUTH RESULTS LEDGER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051560"/>
          <a:ext cx="10561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264"/>
                <a:gridCol w="2112264"/>
                <a:gridCol w="2112264"/>
                <a:gridCol w="2112264"/>
                <a:gridCol w="2112264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 Dimension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MPEG-TS Stream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BBFrame Stream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GSE Stream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Cross-Format Comparison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Input File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sample.ts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dvb-s2_bb_example.pcap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GSExtract/sample.ts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MPEG-TS vs BBFrame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Total Units Parsed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18,176 packets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4,309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14 PDUs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18,176 pkts vs 4,309 frames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Syntactic Validity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100.0% (18,176/18,176)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100.0% (4,309/4,309)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100.0% (14/14)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100.0% vs 100.0% (EQUAL)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Extracted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3,267,305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1,958,826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8,764 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Delta: -1,308,479 B (-40.05%)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Windowing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91 win (w=200 pkts)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87 win (w=50 frames)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 win (w=3 PDUs)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91 win vs 87 win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F1 Health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100.00 / 100 (HEALTHY)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100.00 / 100 (HEALTHY)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100.00 / 100 (HEALTHY)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100.00 vs 100.00 (COMPARABLE)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F2 Anomaly 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 [1, 2, 12, 88, 90]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5 [0, 83, 84, 85, 86]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1 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9 metrics NOT_COMPARABLE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Peak Anomaly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0.8576 (Window 90)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0.7406 (Window 86)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0.5018 (Window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Format-specific models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Dominant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PID 256 (98.5% share)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Modal DFL 8304b (92%)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GSE_EXT_NPA (100%)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Structural metrics barred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Shannon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0.1361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N/A (Continuous DFL)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0.0000 bits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NOT_COMPARABLE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" y="5257800"/>
            <a:ext cx="10561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Reconciled Ground Truth: </a:t>
            </a:r>
            <a:r>
              <a:rPr b="0" sz="1300">
                <a:solidFill>
                  <a:srgbClr val="282828"/>
                </a:solidFill>
                <a:latin typeface="Arial"/>
              </a:rPr>
              <a:t>All numbers match the authoritative ground truth ledger. Peak BBFrame anomaly score 0.7406 reconciled.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GSE CAPTURE INGESTION &amp; DECODING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Authoritative GSE Capture File: </a:t>
            </a:r>
            <a:r>
              <a:rPr b="0" sz="1400">
                <a:solidFill>
                  <a:srgbClr val="282828"/>
                </a:solidFill>
                <a:latin typeface="Arial"/>
              </a:rPr>
              <a:t>01_RAW_DATA/02_GSE/GSExtract/sample.ts (File size: 9,324 bytes).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Observed Decoded PDUs: </a:t>
            </a:r>
            <a:r>
              <a:rPr b="0" sz="1400">
                <a:solidFill>
                  <a:srgbClr val="282828"/>
                </a:solidFill>
                <a:latin typeface="Arial"/>
              </a:rPr>
              <a:t>14 variable-length GSE Protocol Data Units (PDUs) extracted and validated.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GSE Length Field Specification: </a:t>
            </a:r>
            <a:r>
              <a:rPr b="0" sz="1400">
                <a:solidFill>
                  <a:srgbClr val="282828"/>
                </a:solidFill>
                <a:latin typeface="Arial"/>
              </a:rPr>
              <a:t>12-bit header length field (Valid range: 0–4095 bytes payload).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Theoretical Maximum PDU Size: </a:t>
            </a:r>
            <a:r>
              <a:rPr b="0" sz="1400">
                <a:solidFill>
                  <a:srgbClr val="282828"/>
                </a:solidFill>
                <a:latin typeface="Arial"/>
              </a:rPr>
              <a:t>4097 bytes including the 2-byte base header.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Observed Maximum PDU Size: </a:t>
            </a:r>
            <a:r>
              <a:rPr b="0" sz="1400">
                <a:solidFill>
                  <a:srgbClr val="282828"/>
                </a:solidFill>
                <a:latin typeface="Arial"/>
              </a:rPr>
              <a:t>1,444 bytes observed in the sample capture stream.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Format Auto-Sniffing Handling: </a:t>
            </a:r>
            <a:r>
              <a:rPr b="0" sz="1400">
                <a:solidFill>
                  <a:srgbClr val="282828"/>
                </a:solidFill>
                <a:latin typeface="Arial"/>
              </a:rPr>
              <a:t>File extension .ts retained natively; multi-tier format sniffer correctly identifies GSE PDU content without requiring file renaming to .gse.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TESTING AND VALIDATION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Total Test Suite Validation Result: </a:t>
            </a:r>
            <a:r>
              <a:rPr b="0" sz="1400">
                <a:solidFill>
                  <a:srgbClr val="282828"/>
                </a:solidFill>
                <a:latin typeface="Arial"/>
              </a:rPr>
              <a:t>240 / 240 Passing Tests (100% Pass Rate across the entire application).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207 Backend Unit Tests: </a:t>
            </a:r>
            <a:r>
              <a:rPr b="0" sz="1400">
                <a:solidFill>
                  <a:srgbClr val="282828"/>
                </a:solidFill>
                <a:latin typeface="Arial"/>
              </a:rPr>
              <a:t>11 dedicated test modules executing under Python's native unittest framework in 8.710 seconds: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test_ts_parser (20 tests): </a:t>
            </a:r>
            <a:r>
              <a:rPr b="0" sz="1400">
                <a:solidFill>
                  <a:srgbClr val="282828"/>
                </a:solidFill>
                <a:latin typeface="Arial"/>
              </a:rPr>
              <a:t>188B packet parsing, sync recovery, PID filtering, CC checking, TEI detection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test_gse_parser (18 tests): </a:t>
            </a:r>
            <a:r>
              <a:rPr b="0" sz="1400">
                <a:solidFill>
                  <a:srgbClr val="282828"/>
                </a:solidFill>
                <a:latin typeface="Arial"/>
              </a:rPr>
              <a:t>Variable PDU lengths, S/E fragmentation flags, LT types, EtherType extraction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test_bbframe_parser (23 tests): </a:t>
            </a:r>
            <a:r>
              <a:rPr b="0" sz="1400">
                <a:solidFill>
                  <a:srgbClr val="282828"/>
                </a:solidFill>
                <a:latin typeface="Arial"/>
              </a:rPr>
              <a:t>10B BBHeader parsing, MATYPE flags, UPL/DFL, table-driven CRC-8 verification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test_stream_handler &amp; features (24 tests): </a:t>
            </a:r>
            <a:r>
              <a:rPr b="0" sz="1400">
                <a:solidFill>
                  <a:srgbClr val="282828"/>
                </a:solidFill>
                <a:latin typeface="Arial"/>
              </a:rPr>
              <a:t>Multi-tier format sniffing, unified metric extraction, Shannon entropy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test_health, anomaly &amp; patterns (48 tests): </a:t>
            </a:r>
            <a:r>
              <a:rPr b="0" sz="1400">
                <a:solidFill>
                  <a:srgbClr val="282828"/>
                </a:solidFill>
                <a:latin typeface="Arial"/>
              </a:rPr>
              <a:t>Priority-1 health penalties, Isolation Forest calibration, transition filtering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• test_timeline, explanation, comparison, report (74 tests): </a:t>
            </a:r>
            <a:r>
              <a:rPr b="0" sz="1400">
                <a:solidFill>
                  <a:srgbClr val="282828"/>
                </a:solidFill>
                <a:latin typeface="Arial"/>
              </a:rPr>
              <a:t>Byte offset tracking, signed Z-scores, semantic audit, multi-format renderers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33 Frontend Component Tests: </a:t>
            </a:r>
            <a:r>
              <a:rPr b="0" sz="1400">
                <a:solidFill>
                  <a:srgbClr val="282828"/>
                </a:solidFill>
                <a:latin typeface="Arial"/>
              </a:rPr>
              <a:t>33 UI tests verifying interactive timeline controls, dashboard rendering, and export state.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TECHNOLOGIES &amp; ENGINEERING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2060"/>
                </a:solidFill>
              </a:defRPr>
            </a:pPr>
            <a:r>
              <a:t>Backend Analytics &amp; AI Core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Programming Language: </a:t>
            </a:r>
            <a:r>
              <a:rPr b="0" sz="1300">
                <a:solidFill>
                  <a:srgbClr val="282828"/>
                </a:solidFill>
                <a:latin typeface="Arial"/>
              </a:rPr>
              <a:t>Python 3.x (Core implementation)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Scientific Computing: </a:t>
            </a:r>
            <a:r>
              <a:rPr b="0" sz="1300">
                <a:solidFill>
                  <a:srgbClr val="282828"/>
                </a:solidFill>
                <a:latin typeface="Arial"/>
              </a:rPr>
              <a:t>NumPy (&gt;=1.26), SciPy (&gt;=1.11), Pandas (&gt;=2.1)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Machine Learning Engine: </a:t>
            </a:r>
            <a:r>
              <a:rPr b="0" sz="1300">
                <a:solidFill>
                  <a:srgbClr val="282828"/>
                </a:solidFill>
                <a:latin typeface="Arial"/>
              </a:rPr>
              <a:t>scikit-learn (Isolation Forest anomaly model)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Testing Framework: </a:t>
            </a:r>
            <a:r>
              <a:rPr b="0" sz="1300">
                <a:solidFill>
                  <a:srgbClr val="282828"/>
                </a:solidFill>
                <a:latin typeface="Arial"/>
              </a:rPr>
              <a:t>Python unittest, pytest (&gt;=7.4), pytest-cov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0515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2060"/>
                </a:solidFill>
              </a:defRPr>
            </a:pPr>
            <a:r>
              <a:t>Visualization, UI &amp; Tooling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Visualization Engines: </a:t>
            </a:r>
            <a:r>
              <a:rPr b="0" sz="1300">
                <a:solidFill>
                  <a:srgbClr val="282828"/>
                </a:solidFill>
                <a:latin typeface="Arial"/>
              </a:rPr>
              <a:t>Matplotlib (&gt;=3.8), Plotly, HTML5, CSS3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Reporting Generators: </a:t>
            </a:r>
            <a:r>
              <a:rPr b="0" sz="1300">
                <a:solidFill>
                  <a:srgbClr val="282828"/>
                </a:solidFill>
                <a:latin typeface="Arial"/>
              </a:rPr>
              <a:t>JSON, GitHub-Flavored Markdown, ASCII Text, Standalone HTML5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IDE &amp; Version Control: </a:t>
            </a:r>
            <a:r>
              <a:rPr b="0" sz="1300">
                <a:solidFill>
                  <a:srgbClr val="282828"/>
                </a:solidFill>
                <a:latin typeface="Arial"/>
              </a:rPr>
              <a:t>VS Code, Git, GitHub Repository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Operating System: </a:t>
            </a:r>
            <a:r>
              <a:rPr b="0" sz="1300">
                <a:solidFill>
                  <a:srgbClr val="282828"/>
                </a:solidFill>
                <a:latin typeface="Arial"/>
              </a:rPr>
              <a:t>Cross-platform support (Windows / Linux)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INDIVIDUAL CONTRIBUTIONS &amp; RESPONSIBILITIES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816" y="1051560"/>
          <a:ext cx="105613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330"/>
                <a:gridCol w="2640330"/>
                <a:gridCol w="2640330"/>
                <a:gridCol w="264033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 Member Name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University Roll No.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Project Role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Technical Responsibilities &amp; Completed Modules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Sk Samad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20231COM0031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Testing, Validation &amp; Documentation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Automated test suite execution (207 backend / 33 frontend tests), technical documentation authoring, literature review synthesis, experimental report verification.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Y Vengala Rao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20231COM0001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Frontend, Visualization &amp;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Frontend UI MVP development, interactive timeline chart components, dashboard layout design, presentation slide deck authoring.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 Rakeshwar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20231COM0008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Core Development &amp; Technical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Arial"/>
                        </a:defRPr>
                      </a:pPr>
                      <a:r>
                        <a:t>Backend architecture, multi-format stream parsers (TS/GSE/BBFrame), F1–F7 analysis engines, AI/ML Isolation Forest model integration, system integration.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3816" y="2697480"/>
            <a:ext cx="10561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Equal Team Contribution: </a:t>
            </a:r>
            <a:r>
              <a:rPr b="0" sz="1300">
                <a:solidFill>
                  <a:srgbClr val="282828"/>
                </a:solidFill>
                <a:latin typeface="Arial"/>
              </a:rPr>
              <a:t>All team members actively contributed to development, verification, and documentation under guide supervision.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GITHUB REPOSITORY ACCESS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Public Repository Access: </a:t>
            </a:r>
            <a:r>
              <a:rPr b="0" sz="1300">
                <a:solidFill>
                  <a:srgbClr val="282828"/>
                </a:solidFill>
                <a:latin typeface="Arial"/>
              </a:rPr>
              <a:t>The official PRJ_111 source code, test suite, and documentation are hosted with full public access permission.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Repository URL: </a:t>
            </a:r>
            <a:r>
              <a:rPr b="0" sz="1300">
                <a:solidFill>
                  <a:srgbClr val="282828"/>
                </a:solidFill>
                <a:latin typeface="Arial"/>
              </a:rPr>
              <a:t>https://github.com/rakesh0709/PRJ_111_DVB-S2_Analysis.git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Repository Contents: </a:t>
            </a:r>
            <a:r>
              <a:rPr b="0" sz="1300">
                <a:solidFill>
                  <a:srgbClr val="282828"/>
                </a:solidFill>
                <a:latin typeface="Arial"/>
              </a:rPr>
              <a:t>Complete F1–F7 implementation, 207 backend unit tests, 5 real-data experiment scripts, documentation ledgers, and standalone report renderers.</a:t>
            </a:r>
          </a:p>
          <a:p>
            <a:pPr>
              <a:spcAft>
                <a:spcPts val="600"/>
              </a:spcAft>
              <a:defRPr b="1" sz="1300">
                <a:solidFill>
                  <a:srgbClr val="0F2240"/>
                </a:solidFill>
                <a:latin typeface="Arial"/>
              </a:defRPr>
            </a:pPr>
            <a:r>
              <a:t>Branching &amp; Maintenance: </a:t>
            </a:r>
            <a:r>
              <a:rPr b="0" sz="1300">
                <a:solidFill>
                  <a:srgbClr val="282828"/>
                </a:solidFill>
                <a:latin typeface="Arial"/>
              </a:rPr>
              <a:t>Active development branch maintained under git version control with comprehensive commit history.</a:t>
            </a:r>
          </a:p>
        </p:txBody>
      </p:sp>
      <p:pic>
        <p:nvPicPr>
          <p:cNvPr id="5" name="Picture 4" descr="github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1234440"/>
            <a:ext cx="493776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7376" y="6217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282828"/>
                </a:solidFill>
              </a:defRPr>
            </a:pPr>
            <a:r>
              <a:t>Scan QR code to access public GitHub repository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OPERATIONAL LIMITATIONS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Absence of Physical RF Telemetry: </a:t>
            </a:r>
            <a:r>
              <a:rPr b="0" sz="1400">
                <a:solidFill>
                  <a:srgbClr val="282828"/>
                </a:solidFill>
                <a:latin typeface="Arial"/>
              </a:rPr>
              <a:t>Operating on post-demodulator digital output, the software cannot directly measure physical RF carrier parameters (SNR, MER, C/N, carrier offset, or LNB drift).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Offline File Capture Focus: </a:t>
            </a:r>
            <a:r>
              <a:rPr b="0" sz="1400">
                <a:solidFill>
                  <a:srgbClr val="282828"/>
                </a:solidFill>
                <a:latin typeface="Arial"/>
              </a:rPr>
              <a:t>Processes pre-recorded stream captures (.ts, .pcap, .bin); live Software-Defined Radio (SDR) hardware streaming is not currently integrated.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Scarcity of Public Labeled Ground Truth: </a:t>
            </a:r>
            <a:r>
              <a:rPr b="0" sz="1400">
                <a:solidFill>
                  <a:srgbClr val="282828"/>
                </a:solidFill>
                <a:latin typeface="Arial"/>
              </a:rPr>
              <a:t>The absence of standardized, frame-labeled satellite fault benchmarks requires unsupervised Isolation Forest modeling rather than supervised classification.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Format-Specific Header Parsing Scope: </a:t>
            </a:r>
            <a:r>
              <a:rPr b="0" sz="1400">
                <a:solidFill>
                  <a:srgbClr val="282828"/>
                </a:solidFill>
                <a:latin typeface="Arial"/>
              </a:rPr>
              <a:t>Relies on standardized structural headers (BBHeader, GSE PDU, TS 188B); proprietary unencapsulated payloads require format adapters.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FUTURE WORK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Full PSI/SI Table Parsing: </a:t>
            </a:r>
            <a:r>
              <a:rPr b="0" sz="1400">
                <a:solidFill>
                  <a:srgbClr val="282828"/>
                </a:solidFill>
                <a:latin typeface="Arial"/>
              </a:rPr>
              <a:t>Implement full Program Association Table (PAT), Program Map Table (PMT), and Service Information decoders resolving elementary audio/video codecs (AVC/H.264, HEVC, AC-3).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Physical RF Cross-Correlation: </a:t>
            </a:r>
            <a:r>
              <a:rPr b="0" sz="1400">
                <a:solidFill>
                  <a:srgbClr val="282828"/>
                </a:solidFill>
                <a:latin typeface="Arial"/>
              </a:rPr>
              <a:t>Ingest external demodulator telemetry logs (SNR/AGC) for cross-layer correlation between physical link budget and digital stream health.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Deep Learning Model Extensions: </a:t>
            </a:r>
            <a:r>
              <a:rPr b="0" sz="1400">
                <a:solidFill>
                  <a:srgbClr val="282828"/>
                </a:solidFill>
                <a:latin typeface="Arial"/>
              </a:rPr>
              <a:t>Integrate semi-supervised Autoencoders and LSTM networks trained on synthetic fault injection benchmarks.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Real-Time SDR Streaming Integration: </a:t>
            </a:r>
            <a:r>
              <a:rPr b="0" sz="1400">
                <a:solidFill>
                  <a:srgbClr val="282828"/>
                </a:solidFill>
                <a:latin typeface="Arial"/>
              </a:rPr>
              <a:t>Support real-time circular buffer streaming directly from GNU Radio or USRP SDR hardware tuners.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Unified Multi-Format Solution: </a:t>
            </a:r>
            <a:r>
              <a:rPr b="0" sz="1400">
                <a:solidFill>
                  <a:srgbClr val="282828"/>
                </a:solidFill>
                <a:latin typeface="Arial"/>
              </a:rPr>
              <a:t>Successfully developed a software application for analysis and processing of DVB-S2 receiver output streams across MPEG-TS, GSE, and BBFrame formats.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Comprehensive Feature Implementation: </a:t>
            </a:r>
            <a:r>
              <a:rPr b="0" sz="1400">
                <a:solidFill>
                  <a:srgbClr val="282828"/>
                </a:solidFill>
                <a:latin typeface="Arial"/>
              </a:rPr>
              <a:t>Features F1 through F7 are 100% implemented, audited, and verified with an automated test suite achieving 240 / 240 passing tests (100% pass rate).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Rigorous Engineering &amp; Epistemic Guard: </a:t>
            </a:r>
            <a:r>
              <a:rPr b="0" sz="1400">
                <a:solidFill>
                  <a:srgbClr val="282828"/>
                </a:solidFill>
                <a:latin typeface="Arial"/>
              </a:rPr>
              <a:t>Enforced a semantic cross-format audit preventing invalid metric comparisons, bounded signed Z-score diagnostic attributions, and strict domain-safety guards.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Validated Operational Readiness: </a:t>
            </a:r>
            <a:r>
              <a:rPr b="0" sz="1400">
                <a:solidFill>
                  <a:srgbClr val="282828"/>
                </a:solidFill>
                <a:latin typeface="Arial"/>
              </a:rPr>
              <a:t>Empirically validated against real satellite broadcast captures and deployed automated multi-format report renderers for operator decision support.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REFERENCES (IEEE FORMAT)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[1] A. Morello and V. Mignone: </a:t>
            </a:r>
            <a:r>
              <a:rPr b="0" sz="1400">
                <a:solidFill>
                  <a:srgbClr val="282828"/>
                </a:solidFill>
                <a:latin typeface="Arial"/>
              </a:rPr>
              <a:t>DVB-S2: The Second Generation Standard for Satellite Broad-Band Services, Proc. IEEE, vol. 94, no. 1, pp. 210–227, 2006.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[2] G. Albertazzi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On the Adaptive DVB-S2 Physical Layer: Design and Performance, IEEE Wireless Commun., vol. 12, no. 6, pp. 62–68, 2005.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[3] E. Casini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DVB-S2 Modem Algorithms Design and Performance over Typical Satellite Channels, Int. J. Satell. Commun. Netw., vol. 22, no. 3, pp. 281–318, 2004.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[4] J. Cantillo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GSE: A Flexible, Yet Efficient, Encapsulation for IP over DVB-S2 Continuous Generic Streams, Int. J. Satell. Commun. Netw., vol. 26, pp. 231–250, 2008.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[5] J. Cantillo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Design Issues for Generic Stream Encapsulation (GSE) over DVB-S2, in Proc. IWSSC, 2007, pp. 276–280.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[6] P. Th. Savvopoulos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A Software-Radio Test-bed for DVB-S2 Receiver Performance, in Proc. SPSC, 2008.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[7] K. Hundman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Detecting Spacecraft Anomalies Using LSTMs and Nonparametric Dynamic Thresholding, in Proc. ACM KDD, 2018, pp. 387–395.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[8] E. Arbon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Anomaly Detection in Satellite Communications Systems using LSTM Networks, in Proc. MilCIS, IEEE, 2018.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[9] D. Pan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Satellite Telemetry Data Anomaly Detection Using Bi-LSTM Prediction Based Model, in Proc. IEEE I2MTC, 2020.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[10] Z. Zeng et al.: </a:t>
            </a:r>
            <a:r>
              <a:rPr b="0" sz="1400">
                <a:solidFill>
                  <a:srgbClr val="282828"/>
                </a:solidFill>
                <a:latin typeface="Arial"/>
              </a:rPr>
              <a:t>Satellite Telemetry Data Anomaly Detection Using Causal Network and Feature-Attention-Based LSTM, IEEE Trans. Instrum. Meas., vol. 71, 2022.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200" b="1">
                <a:solidFill>
                  <a:srgbClr val="002060"/>
                </a:solidFill>
                <a:latin typeface="Arial"/>
              </a:defRPr>
            </a:pPr>
            <a:r>
              <a:t>THANK YOU / QUESTIONS &amp; DEFENSE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13816" y="1051560"/>
            <a:ext cx="10561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Project Identifier: </a:t>
            </a:r>
            <a:r>
              <a:rPr b="0" sz="1400">
                <a:solidFill>
                  <a:srgbClr val="282828"/>
                </a:solidFill>
                <a:latin typeface="Arial"/>
              </a:rPr>
              <a:t>PRJ_111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Project Full Title: </a:t>
            </a:r>
            <a:r>
              <a:rPr b="0" sz="1400">
                <a:solidFill>
                  <a:srgbClr val="282828"/>
                </a:solidFill>
                <a:latin typeface="Arial"/>
              </a:rPr>
              <a:t>Development of a Software Application for Analysis and Processing of DVB-S2 Receiver Output Stream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Academic Milestone: </a:t>
            </a:r>
            <a:r>
              <a:rPr b="0" sz="1400">
                <a:solidFill>
                  <a:srgbClr val="282828"/>
                </a:solidFill>
                <a:latin typeface="Arial"/>
              </a:rPr>
              <a:t>CSE7102 – Mini Project (Review-2 Milestone | 26-09-2026)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Supervising Guide: </a:t>
            </a:r>
            <a:r>
              <a:rPr b="0" sz="1400">
                <a:solidFill>
                  <a:srgbClr val="282828"/>
                </a:solidFill>
                <a:latin typeface="Arial"/>
              </a:rPr>
              <a:t>Asst. Prof. Irfan Rajab Bhat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Department &amp; School: </a:t>
            </a:r>
            <a:r>
              <a:rPr b="0" sz="1400">
                <a:solidFill>
                  <a:srgbClr val="282828"/>
                </a:solidFill>
                <a:latin typeface="Arial"/>
              </a:rPr>
              <a:t>Department of Computer Science and Engineering, Presidency School of Computer Science and Engineering, Presidency University, Bengaluru</a:t>
            </a:r>
          </a:p>
          <a:p>
            <a:pPr>
              <a:spcAft>
                <a:spcPts val="800"/>
              </a:spcAft>
              <a:defRPr b="1" sz="1400">
                <a:solidFill>
                  <a:srgbClr val="0F2240"/>
                </a:solidFill>
                <a:latin typeface="Arial"/>
              </a:defRPr>
            </a:pPr>
            <a:r>
              <a:t>Open for Questions: </a:t>
            </a:r>
            <a:r>
              <a:rPr b="0" sz="1400">
                <a:solidFill>
                  <a:srgbClr val="282828"/>
                </a:solidFill>
                <a:latin typeface="Arial"/>
              </a:rPr>
              <a:t>We welcome feedback, technical questions, and defense evaluation from the review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A2C149D477E4E814B4B477F0E243C" ma:contentTypeVersion="13" ma:contentTypeDescription="Create a new document." ma:contentTypeScope="" ma:versionID="89242249e9f2fc9f35c8ac40d1749aa8">
  <xsd:schema xmlns:xsd="http://www.w3.org/2001/XMLSchema" xmlns:xs="http://www.w3.org/2001/XMLSchema" xmlns:p="http://schemas.microsoft.com/office/2006/metadata/properties" xmlns:ns2="ed62f681-7444-4666-891e-c71d42de2ddf" xmlns:ns3="b8676f30-e579-463a-a8aa-821338b00374" targetNamespace="http://schemas.microsoft.com/office/2006/metadata/properties" ma:root="true" ma:fieldsID="a661edb3eb918c130b5b038713d75e6b" ns2:_="" ns3:_="">
    <xsd:import namespace="ed62f681-7444-4666-891e-c71d42de2ddf"/>
    <xsd:import namespace="b8676f30-e579-463a-a8aa-821338b003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62f681-7444-4666-891e-c71d42de2d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4626717-1439-4315-99ce-985d7ba5c1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676f30-e579-463a-a8aa-821338b003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f08d022-328e-4f53-b2cf-c730c7a35dee}" ma:internalName="TaxCatchAll" ma:showField="CatchAllData" ma:web="b8676f30-e579-463a-a8aa-821338b003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62f681-7444-4666-891e-c71d42de2ddf">
      <Terms xmlns="http://schemas.microsoft.com/office/infopath/2007/PartnerControls"/>
    </lcf76f155ced4ddcb4097134ff3c332f>
    <TaxCatchAll xmlns="b8676f30-e579-463a-a8aa-821338b00374" xsi:nil="true"/>
  </documentManagement>
</p:properties>
</file>

<file path=customXml/itemProps1.xml><?xml version="1.0" encoding="utf-8"?>
<ds:datastoreItem xmlns:ds="http://schemas.openxmlformats.org/officeDocument/2006/customXml" ds:itemID="{80799BD1-F224-430F-A4F0-5AAD34602B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62f681-7444-4666-891e-c71d42de2ddf"/>
    <ds:schemaRef ds:uri="b8676f30-e579-463a-a8aa-821338b003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D2043A-A905-44DC-A627-E0BB4B1558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1A4896-B9C1-4471-B691-16FF8CBFF7E9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b8676f30-e579-463a-a8aa-821338b00374"/>
    <ds:schemaRef ds:uri="ed62f681-7444-4666-891e-c71d42de2dd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389</Words>
  <Application>Microsoft Office PowerPoint</Application>
  <PresentationFormat>Widescreen</PresentationFormat>
  <Paragraphs>86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Verdana</vt:lpstr>
      <vt:lpstr>Wingdings</vt:lpstr>
      <vt:lpstr>Bioinformatics</vt:lpstr>
      <vt:lpstr>PowerPoint Presentation</vt:lpstr>
      <vt:lpstr>PROJECT TITLE</vt:lpstr>
      <vt:lpstr>INDEX</vt:lpstr>
      <vt:lpstr>Problem Statement: </vt:lpstr>
      <vt:lpstr>Objectives</vt:lpstr>
      <vt:lpstr>Literature/research understanding </vt:lpstr>
      <vt:lpstr>Methodology and Architecture</vt:lpstr>
      <vt:lpstr>Implementation Progress</vt:lpstr>
      <vt:lpstr>Individual Contribution</vt:lpstr>
      <vt:lpstr>Github Link</vt:lpstr>
      <vt:lpstr>Conclusion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Muthuraju V</cp:lastModifiedBy>
  <cp:revision>47</cp:revision>
  <dcterms:modified xsi:type="dcterms:W3CDTF">2026-09-23T15:03:18Z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0x010100FA8A2C149D477E4E814B4B477F0E243C</vt:lpwstr>
  </property>
</Properties>
</file>