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Open Sans" panose="020B0606030504020204" pitchFamily="34" charset="0"/>
      <p:regular r:id="rId10"/>
    </p:embeddedFont>
    <p:embeddedFont>
      <p:font typeface="Open Sans Bold" panose="020B0604020202020204" charset="0"/>
      <p:regular r:id="rId11"/>
    </p:embeddedFon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Light" panose="020B0502040204020203" pitchFamily="2" charset="0"/>
      <p:regular r:id="rId14"/>
    </p:embeddedFont>
    <p:embeddedFont>
      <p:font typeface="Poppins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07173" y="-507140"/>
            <a:ext cx="19214333" cy="10794140"/>
            <a:chOff x="0" y="0"/>
            <a:chExt cx="1085131" cy="609600"/>
          </a:xfrm>
        </p:grpSpPr>
        <p:sp>
          <p:nvSpPr>
            <p:cNvPr id="3" name="Freeform 3"/>
            <p:cNvSpPr/>
            <p:nvPr/>
          </p:nvSpPr>
          <p:spPr>
            <a:xfrm>
              <a:off x="5401" y="0"/>
              <a:ext cx="1074330" cy="609600"/>
            </a:xfrm>
            <a:custGeom>
              <a:avLst/>
              <a:gdLst/>
              <a:ahLst/>
              <a:cxnLst/>
              <a:rect l="l" t="t" r="r" b="b"/>
              <a:pathLst>
                <a:path w="1074330" h="609600">
                  <a:moveTo>
                    <a:pt x="217139" y="0"/>
                  </a:moveTo>
                  <a:lnTo>
                    <a:pt x="1060390" y="0"/>
                  </a:lnTo>
                  <a:cubicBezTo>
                    <a:pt x="1064870" y="0"/>
                    <a:pt x="1069078" y="2154"/>
                    <a:pt x="1071698" y="5789"/>
                  </a:cubicBezTo>
                  <a:cubicBezTo>
                    <a:pt x="1074318" y="9424"/>
                    <a:pt x="1075031" y="14097"/>
                    <a:pt x="1073614" y="18348"/>
                  </a:cubicBezTo>
                  <a:lnTo>
                    <a:pt x="882646" y="591252"/>
                  </a:lnTo>
                  <a:cubicBezTo>
                    <a:pt x="878994" y="602209"/>
                    <a:pt x="868740" y="609600"/>
                    <a:pt x="857190" y="609600"/>
                  </a:cubicBezTo>
                  <a:lnTo>
                    <a:pt x="13939" y="609600"/>
                  </a:lnTo>
                  <a:cubicBezTo>
                    <a:pt x="9459" y="609600"/>
                    <a:pt x="5251" y="607446"/>
                    <a:pt x="2631" y="603811"/>
                  </a:cubicBezTo>
                  <a:cubicBezTo>
                    <a:pt x="11" y="600176"/>
                    <a:pt x="-702" y="595503"/>
                    <a:pt x="715" y="591252"/>
                  </a:cubicBezTo>
                  <a:lnTo>
                    <a:pt x="191683" y="18348"/>
                  </a:lnTo>
                  <a:cubicBezTo>
                    <a:pt x="195335" y="7391"/>
                    <a:pt x="205589" y="0"/>
                    <a:pt x="217139" y="0"/>
                  </a:cubicBezTo>
                  <a:close/>
                </a:path>
              </a:pathLst>
            </a:custGeom>
            <a:solidFill>
              <a:srgbClr val="20527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47625"/>
              <a:ext cx="881931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PRJ_111 — Mini Project Review 0</a:t>
              </a:r>
            </a:p>
            <a:p>
              <a:pPr algn="ctr">
                <a:lnSpc>
                  <a:spcPts val="2659"/>
                </a:lnSpc>
              </a:pPr>
              <a:endPara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2659"/>
                </a:lnSpc>
              </a:pPr>
              <a:endPara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615464"/>
            <a:ext cx="12296708" cy="299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33"/>
              </a:lnSpc>
            </a:pPr>
            <a:r>
              <a:rPr lang="en-US" sz="507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Development of a Software Application for Analysis and Processing of DVB-S2 Receiver Output Streams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456153" y="1985627"/>
            <a:ext cx="6248524" cy="7272673"/>
            <a:chOff x="0" y="0"/>
            <a:chExt cx="660400" cy="7686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768641"/>
            </a:xfrm>
            <a:custGeom>
              <a:avLst/>
              <a:gdLst/>
              <a:ahLst/>
              <a:cxnLst/>
              <a:rect l="l" t="t" r="r" b="b"/>
              <a:pathLst>
                <a:path w="660400" h="76864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521"/>
                  </a:cubicBezTo>
                  <a:lnTo>
                    <a:pt x="660400" y="768641"/>
                  </a:lnTo>
                  <a:lnTo>
                    <a:pt x="0" y="768641"/>
                  </a:lnTo>
                  <a:lnTo>
                    <a:pt x="0" y="32784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t="-171" b="-17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14350" y="8627359"/>
            <a:ext cx="3086100" cy="2075136"/>
            <a:chOff x="0" y="0"/>
            <a:chExt cx="736600" cy="495300"/>
          </a:xfrm>
        </p:grpSpPr>
        <p:sp>
          <p:nvSpPr>
            <p:cNvPr id="9" name="Freeform 9"/>
            <p:cNvSpPr/>
            <p:nvPr/>
          </p:nvSpPr>
          <p:spPr>
            <a:xfrm>
              <a:off x="13992" y="0"/>
              <a:ext cx="708616" cy="495300"/>
            </a:xfrm>
            <a:custGeom>
              <a:avLst/>
              <a:gdLst/>
              <a:ahLst/>
              <a:cxnLst/>
              <a:rect l="l" t="t" r="r" b="b"/>
              <a:pathLst>
                <a:path w="708616" h="495300">
                  <a:moveTo>
                    <a:pt x="254844" y="0"/>
                  </a:moveTo>
                  <a:lnTo>
                    <a:pt x="683959" y="0"/>
                  </a:lnTo>
                  <a:cubicBezTo>
                    <a:pt x="692379" y="0"/>
                    <a:pt x="700217" y="4297"/>
                    <a:pt x="704746" y="11395"/>
                  </a:cubicBezTo>
                  <a:cubicBezTo>
                    <a:pt x="709275" y="18494"/>
                    <a:pt x="709868" y="27413"/>
                    <a:pt x="706319" y="35049"/>
                  </a:cubicBezTo>
                  <a:lnTo>
                    <a:pt x="508709" y="460251"/>
                  </a:lnTo>
                  <a:cubicBezTo>
                    <a:pt x="498775" y="481627"/>
                    <a:pt x="477343" y="495300"/>
                    <a:pt x="453772" y="495300"/>
                  </a:cubicBezTo>
                  <a:lnTo>
                    <a:pt x="24657" y="495300"/>
                  </a:lnTo>
                  <a:cubicBezTo>
                    <a:pt x="16237" y="495300"/>
                    <a:pt x="8399" y="491003"/>
                    <a:pt x="3870" y="483905"/>
                  </a:cubicBezTo>
                  <a:cubicBezTo>
                    <a:pt x="-659" y="476806"/>
                    <a:pt x="-1252" y="467887"/>
                    <a:pt x="2297" y="460251"/>
                  </a:cubicBezTo>
                  <a:lnTo>
                    <a:pt x="199907" y="35049"/>
                  </a:lnTo>
                  <a:cubicBezTo>
                    <a:pt x="209841" y="13673"/>
                    <a:pt x="231273" y="0"/>
                    <a:pt x="2548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54000" y="-38100"/>
              <a:ext cx="2286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29899" y="8627359"/>
            <a:ext cx="3086100" cy="2075136"/>
            <a:chOff x="0" y="0"/>
            <a:chExt cx="736600" cy="495300"/>
          </a:xfrm>
        </p:grpSpPr>
        <p:sp>
          <p:nvSpPr>
            <p:cNvPr id="12" name="Freeform 12"/>
            <p:cNvSpPr/>
            <p:nvPr/>
          </p:nvSpPr>
          <p:spPr>
            <a:xfrm>
              <a:off x="13992" y="0"/>
              <a:ext cx="708616" cy="495300"/>
            </a:xfrm>
            <a:custGeom>
              <a:avLst/>
              <a:gdLst/>
              <a:ahLst/>
              <a:cxnLst/>
              <a:rect l="l" t="t" r="r" b="b"/>
              <a:pathLst>
                <a:path w="708616" h="495300">
                  <a:moveTo>
                    <a:pt x="254844" y="0"/>
                  </a:moveTo>
                  <a:lnTo>
                    <a:pt x="683959" y="0"/>
                  </a:lnTo>
                  <a:cubicBezTo>
                    <a:pt x="692379" y="0"/>
                    <a:pt x="700217" y="4297"/>
                    <a:pt x="704746" y="11395"/>
                  </a:cubicBezTo>
                  <a:cubicBezTo>
                    <a:pt x="709275" y="18494"/>
                    <a:pt x="709868" y="27413"/>
                    <a:pt x="706319" y="35049"/>
                  </a:cubicBezTo>
                  <a:lnTo>
                    <a:pt x="508709" y="460251"/>
                  </a:lnTo>
                  <a:cubicBezTo>
                    <a:pt x="498775" y="481627"/>
                    <a:pt x="477343" y="495300"/>
                    <a:pt x="453772" y="495300"/>
                  </a:cubicBezTo>
                  <a:lnTo>
                    <a:pt x="24657" y="495300"/>
                  </a:lnTo>
                  <a:cubicBezTo>
                    <a:pt x="16237" y="495300"/>
                    <a:pt x="8399" y="491003"/>
                    <a:pt x="3870" y="483905"/>
                  </a:cubicBezTo>
                  <a:cubicBezTo>
                    <a:pt x="-659" y="476806"/>
                    <a:pt x="-1252" y="467887"/>
                    <a:pt x="2297" y="460251"/>
                  </a:cubicBezTo>
                  <a:lnTo>
                    <a:pt x="199907" y="35049"/>
                  </a:lnTo>
                  <a:cubicBezTo>
                    <a:pt x="209841" y="13673"/>
                    <a:pt x="231273" y="0"/>
                    <a:pt x="2548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254000" y="-38100"/>
              <a:ext cx="2286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4737530"/>
            <a:ext cx="5713619" cy="228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8"/>
              </a:lnSpc>
            </a:pPr>
            <a:r>
              <a:rPr lang="en-US" sz="300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 Members:</a:t>
            </a:r>
          </a:p>
          <a:p>
            <a:pPr marL="540844" lvl="1" indent="-270422" algn="l">
              <a:lnSpc>
                <a:spcPts val="4408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 Rakeshwar      20231COM0008</a:t>
            </a:r>
          </a:p>
          <a:p>
            <a:pPr marL="540844" lvl="1" indent="-270422" algn="l">
              <a:lnSpc>
                <a:spcPts val="4408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Sk Samad            20231COM0031</a:t>
            </a:r>
          </a:p>
          <a:p>
            <a:pPr marL="540844" lvl="1" indent="-270422" algn="l">
              <a:lnSpc>
                <a:spcPts val="4408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 Vengala Rao   20231COM0001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6875" y="8166433"/>
            <a:ext cx="5474250" cy="149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879" b="1" spc="1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The Guidance Of:</a:t>
            </a:r>
          </a:p>
          <a:p>
            <a:pPr algn="just">
              <a:lnSpc>
                <a:spcPts val="4030"/>
              </a:lnSpc>
            </a:pPr>
            <a:r>
              <a:rPr lang="en-US" sz="2879" b="1" spc="1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2879" spc="1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rfan Rajab Bhat</a:t>
            </a:r>
          </a:p>
          <a:p>
            <a:pPr algn="just">
              <a:lnSpc>
                <a:spcPts val="4030"/>
              </a:lnSpc>
            </a:pPr>
            <a:r>
              <a:rPr lang="en-US" sz="2879" spc="1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743" y="2220025"/>
            <a:ext cx="17382075" cy="3850500"/>
            <a:chOff x="0" y="0"/>
            <a:chExt cx="4577995" cy="10141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7995" cy="1014124"/>
            </a:xfrm>
            <a:custGeom>
              <a:avLst/>
              <a:gdLst/>
              <a:ahLst/>
              <a:cxnLst/>
              <a:rect l="l" t="t" r="r" b="b"/>
              <a:pathLst>
                <a:path w="4577995" h="1014124">
                  <a:moveTo>
                    <a:pt x="0" y="0"/>
                  </a:moveTo>
                  <a:lnTo>
                    <a:pt x="4577995" y="0"/>
                  </a:lnTo>
                  <a:lnTo>
                    <a:pt x="4577995" y="1014124"/>
                  </a:lnTo>
                  <a:lnTo>
                    <a:pt x="0" y="1014124"/>
                  </a:lnTo>
                  <a:close/>
                </a:path>
              </a:pathLst>
            </a:custGeom>
            <a:solidFill>
              <a:srgbClr val="1B466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77995" cy="105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3618" y="6689650"/>
            <a:ext cx="17382075" cy="3144241"/>
            <a:chOff x="0" y="0"/>
            <a:chExt cx="4577995" cy="8281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7995" cy="828113"/>
            </a:xfrm>
            <a:custGeom>
              <a:avLst/>
              <a:gdLst/>
              <a:ahLst/>
              <a:cxnLst/>
              <a:rect l="l" t="t" r="r" b="b"/>
              <a:pathLst>
                <a:path w="4577995" h="828113">
                  <a:moveTo>
                    <a:pt x="0" y="0"/>
                  </a:moveTo>
                  <a:lnTo>
                    <a:pt x="4577995" y="0"/>
                  </a:lnTo>
                  <a:lnTo>
                    <a:pt x="4577995" y="828113"/>
                  </a:lnTo>
                  <a:lnTo>
                    <a:pt x="0" y="828113"/>
                  </a:lnTo>
                  <a:close/>
                </a:path>
              </a:pathLst>
            </a:custGeom>
            <a:solidFill>
              <a:srgbClr val="1B46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7995" cy="866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5606746" y="-9290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00100" y="7791286"/>
            <a:ext cx="3657600" cy="1167861"/>
          </a:xfrm>
          <a:custGeom>
            <a:avLst/>
            <a:gdLst/>
            <a:ahLst/>
            <a:cxnLst/>
            <a:rect l="l" t="t" r="r" b="b"/>
            <a:pathLst>
              <a:path w="3657600" h="1167861">
                <a:moveTo>
                  <a:pt x="0" y="0"/>
                </a:moveTo>
                <a:lnTo>
                  <a:pt x="3657600" y="0"/>
                </a:lnTo>
                <a:lnTo>
                  <a:pt x="3657600" y="1167860"/>
                </a:lnTo>
                <a:lnTo>
                  <a:pt x="0" y="1167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05716" y="2405579"/>
            <a:ext cx="14301030" cy="3343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42"/>
              </a:lnSpc>
            </a:pPr>
            <a:r>
              <a:rPr lang="en-US" sz="28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BB Frames</a:t>
            </a:r>
          </a:p>
          <a:p>
            <a:pPr marL="494168" lvl="1" indent="-247084" algn="l">
              <a:lnSpc>
                <a:spcPts val="4074"/>
              </a:lnSpc>
              <a:buFont typeface="Arial"/>
              <a:buChar char="•"/>
            </a:pPr>
            <a:r>
              <a:rPr lang="en-US" sz="2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DVB-S2 receivers produce Baseband (BB) Frames as a fundamental data unit. </a:t>
            </a:r>
          </a:p>
          <a:p>
            <a:pPr marL="494168" lvl="1" indent="-247084" algn="l">
              <a:lnSpc>
                <a:spcPts val="4074"/>
              </a:lnSpc>
              <a:buFont typeface="Arial"/>
              <a:buChar char="•"/>
            </a:pPr>
            <a:r>
              <a:rPr lang="en-US" sz="2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frames carry encapsulated stream data and require structured processing for analysis.</a:t>
            </a:r>
          </a:p>
          <a:p>
            <a:pPr marL="0" lvl="0" indent="0" algn="l">
              <a:lnSpc>
                <a:spcPts val="5142"/>
              </a:lnSpc>
            </a:pPr>
            <a:r>
              <a:rPr lang="en-US" sz="28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GSE and TS</a:t>
            </a:r>
          </a:p>
          <a:p>
            <a:pPr marL="494168" lvl="1" indent="-247084" algn="l">
              <a:lnSpc>
                <a:spcPts val="4074"/>
              </a:lnSpc>
              <a:buFont typeface="Arial"/>
              <a:buChar char="•"/>
            </a:pPr>
            <a:r>
              <a:rPr lang="en-US" sz="2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GSE: Generic Stream Encapsulation used for encapsulated stream data.</a:t>
            </a:r>
          </a:p>
          <a:p>
            <a:pPr marL="494168" lvl="1" indent="-247084" algn="l">
              <a:lnSpc>
                <a:spcPts val="4074"/>
              </a:lnSpc>
              <a:buFont typeface="Arial"/>
              <a:buChar char="•"/>
            </a:pPr>
            <a:r>
              <a:rPr lang="en-US" sz="2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TS: Transport Stream with a different structure and processing requirements.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5328" y="397193"/>
            <a:ext cx="11218663" cy="156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69"/>
              </a:lnSpc>
            </a:pPr>
            <a:r>
              <a:rPr lang="en-US" sz="8692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57658" y="6921526"/>
            <a:ext cx="11939219" cy="218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42"/>
              </a:lnSpc>
            </a:pPr>
            <a:r>
              <a:rPr lang="en-US" sz="28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Near Real-Time Processing</a:t>
            </a:r>
          </a:p>
          <a:p>
            <a:pPr marL="494168" lvl="1" indent="-247084" algn="l">
              <a:lnSpc>
                <a:spcPts val="4074"/>
              </a:lnSpc>
              <a:buFont typeface="Arial"/>
              <a:buChar char="•"/>
            </a:pPr>
            <a:r>
              <a:rPr lang="en-US" sz="2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aims to develop a software application capable of processing and analyzing DVB-S2 receiver output streams — BB Frames, GSE and TS — in near real time.</a:t>
            </a:r>
          </a:p>
        </p:txBody>
      </p:sp>
    </p:spTree>
  </p:cSld>
  <p:clrMapOvr>
    <a:masterClrMapping/>
  </p:clrMapOvr>
  <p:transition spd="med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6961" y="356307"/>
            <a:ext cx="16571039" cy="107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9"/>
              </a:lnSpc>
            </a:pPr>
            <a:r>
              <a:rPr lang="en-US" sz="7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Proposed Concept Workflow</a:t>
            </a:r>
          </a:p>
        </p:txBody>
      </p:sp>
      <p:sp>
        <p:nvSpPr>
          <p:cNvPr id="3" name="Freeform 3"/>
          <p:cNvSpPr/>
          <p:nvPr/>
        </p:nvSpPr>
        <p:spPr>
          <a:xfrm rot="10713166">
            <a:off x="-900730" y="-1028700"/>
            <a:ext cx="2566139" cy="4114800"/>
          </a:xfrm>
          <a:custGeom>
            <a:avLst/>
            <a:gdLst/>
            <a:ahLst/>
            <a:cxnLst/>
            <a:rect l="l" t="t" r="r" b="b"/>
            <a:pathLst>
              <a:path w="2566139" h="4114800">
                <a:moveTo>
                  <a:pt x="0" y="0"/>
                </a:moveTo>
                <a:lnTo>
                  <a:pt x="2566139" y="0"/>
                </a:lnTo>
                <a:lnTo>
                  <a:pt x="2566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976231" y="8048820"/>
            <a:ext cx="2566139" cy="4114800"/>
          </a:xfrm>
          <a:custGeom>
            <a:avLst/>
            <a:gdLst/>
            <a:ahLst/>
            <a:cxnLst/>
            <a:rect l="l" t="t" r="r" b="b"/>
            <a:pathLst>
              <a:path w="2566139" h="4114800">
                <a:moveTo>
                  <a:pt x="0" y="0"/>
                </a:moveTo>
                <a:lnTo>
                  <a:pt x="2566138" y="0"/>
                </a:lnTo>
                <a:lnTo>
                  <a:pt x="2566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589533"/>
            <a:ext cx="16685090" cy="7859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DVB‑S2 receiver output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BB frames / GSE / TS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Stream processing &amp; analysis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Artificial intelligence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Application results 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Cloud-based application</a:t>
            </a:r>
          </a:p>
        </p:txBody>
      </p:sp>
    </p:spTree>
  </p:cSld>
  <p:clrMapOvr>
    <a:masterClrMapping/>
  </p:clrMapOvr>
  <p:transition spd="med">
    <p:cover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7850" y="1455959"/>
            <a:ext cx="10625742" cy="3687541"/>
            <a:chOff x="0" y="0"/>
            <a:chExt cx="2929064" cy="1016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9064" cy="1016498"/>
            </a:xfrm>
            <a:custGeom>
              <a:avLst/>
              <a:gdLst/>
              <a:ahLst/>
              <a:cxnLst/>
              <a:rect l="l" t="t" r="r" b="b"/>
              <a:pathLst>
                <a:path w="2929064" h="1016498">
                  <a:moveTo>
                    <a:pt x="2725864" y="0"/>
                  </a:moveTo>
                  <a:lnTo>
                    <a:pt x="0" y="0"/>
                  </a:lnTo>
                  <a:lnTo>
                    <a:pt x="0" y="1016498"/>
                  </a:lnTo>
                  <a:lnTo>
                    <a:pt x="2725864" y="1016498"/>
                  </a:lnTo>
                  <a:lnTo>
                    <a:pt x="2929064" y="508249"/>
                  </a:lnTo>
                  <a:lnTo>
                    <a:pt x="272586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4764" cy="10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8724713" y="5376912"/>
            <a:ext cx="12906347" cy="3626102"/>
            <a:chOff x="0" y="0"/>
            <a:chExt cx="3618009" cy="10164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8009" cy="1016498"/>
            </a:xfrm>
            <a:custGeom>
              <a:avLst/>
              <a:gdLst/>
              <a:ahLst/>
              <a:cxnLst/>
              <a:rect l="l" t="t" r="r" b="b"/>
              <a:pathLst>
                <a:path w="3618009" h="1016498">
                  <a:moveTo>
                    <a:pt x="3414809" y="0"/>
                  </a:moveTo>
                  <a:lnTo>
                    <a:pt x="0" y="0"/>
                  </a:lnTo>
                  <a:lnTo>
                    <a:pt x="0" y="1016498"/>
                  </a:lnTo>
                  <a:lnTo>
                    <a:pt x="3414809" y="1016498"/>
                  </a:lnTo>
                  <a:lnTo>
                    <a:pt x="3618009" y="508249"/>
                  </a:lnTo>
                  <a:lnTo>
                    <a:pt x="34148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03709" cy="10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553994"/>
            <a:ext cx="6809992" cy="3704305"/>
            <a:chOff x="0" y="0"/>
            <a:chExt cx="1055046" cy="6013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5046" cy="601329"/>
            </a:xfrm>
            <a:custGeom>
              <a:avLst/>
              <a:gdLst/>
              <a:ahLst/>
              <a:cxnLst/>
              <a:rect l="l" t="t" r="r" b="b"/>
              <a:pathLst>
                <a:path w="1055046" h="601329">
                  <a:moveTo>
                    <a:pt x="0" y="0"/>
                  </a:moveTo>
                  <a:lnTo>
                    <a:pt x="1055046" y="0"/>
                  </a:lnTo>
                  <a:lnTo>
                    <a:pt x="1055046" y="601329"/>
                  </a:lnTo>
                  <a:lnTo>
                    <a:pt x="0" y="601329"/>
                  </a:lnTo>
                  <a:close/>
                </a:path>
              </a:pathLst>
            </a:custGeom>
            <a:blipFill>
              <a:blip r:embed="rId2"/>
              <a:stretch>
                <a:fillRect t="-552" b="-55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144000" y="2354427"/>
            <a:ext cx="8463317" cy="256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16"/>
              </a:lnSpc>
            </a:pPr>
            <a:r>
              <a:rPr lang="en-US" sz="94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</a:p>
          <a:p>
            <a:pPr marL="0" lvl="0" indent="0" algn="ctr">
              <a:lnSpc>
                <a:spcPts val="9516"/>
              </a:lnSpc>
            </a:pPr>
            <a:r>
              <a:rPr lang="en-US" sz="94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413" y="2036064"/>
            <a:ext cx="8115300" cy="351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1852" lvl="1" indent="-265926" algn="l">
              <a:lnSpc>
                <a:spcPts val="4655"/>
              </a:lnSpc>
              <a:buFont typeface="Arial"/>
              <a:buChar char="•"/>
            </a:pPr>
            <a:r>
              <a:rPr lang="en-US" sz="2463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Analyze and process DVB-S2 receiver output streams.</a:t>
            </a:r>
          </a:p>
          <a:p>
            <a:pPr marL="531852" lvl="1" indent="-265926" algn="l">
              <a:lnSpc>
                <a:spcPts val="4655"/>
              </a:lnSpc>
              <a:buFont typeface="Arial"/>
              <a:buChar char="•"/>
            </a:pPr>
            <a:r>
              <a:rPr lang="en-US" sz="2463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Process BB Frames, GSE and TS data.</a:t>
            </a:r>
          </a:p>
          <a:p>
            <a:pPr marL="531852" lvl="1" indent="-265926" algn="l">
              <a:lnSpc>
                <a:spcPts val="4655"/>
              </a:lnSpc>
              <a:buFont typeface="Arial"/>
              <a:buChar char="•"/>
            </a:pPr>
            <a:r>
              <a:rPr lang="en-US" sz="2463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Support near-real-time processing and analysis.</a:t>
            </a:r>
          </a:p>
          <a:p>
            <a:pPr marL="531852" lvl="1" indent="-265926" algn="l">
              <a:lnSpc>
                <a:spcPts val="4655"/>
              </a:lnSpc>
              <a:buFont typeface="Arial"/>
              <a:buChar char="•"/>
            </a:pPr>
            <a:r>
              <a:rPr lang="en-US" sz="2463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Improve performance and automation.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9876" y="5853003"/>
            <a:ext cx="8958124" cy="403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992" lvl="1" indent="-261496" algn="l">
              <a:lnSpc>
                <a:spcPts val="4578"/>
              </a:lnSpc>
              <a:buFont typeface="Arial"/>
              <a:buChar char="•"/>
            </a:pPr>
            <a:r>
              <a:rPr lang="en-US" sz="2422" dirty="0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Incorporate Artificial Intelligence for intelligent analysis.</a:t>
            </a:r>
          </a:p>
          <a:p>
            <a:pPr marL="522992" lvl="1" indent="-261496" algn="l">
              <a:lnSpc>
                <a:spcPts val="4578"/>
              </a:lnSpc>
              <a:buFont typeface="Arial"/>
              <a:buChar char="•"/>
            </a:pPr>
            <a:r>
              <a:rPr lang="en-US" sz="2422" dirty="0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Incorporate Cloud Computing for deployment and scalability.</a:t>
            </a:r>
          </a:p>
          <a:p>
            <a:pPr marL="522992" lvl="1" indent="-261496" algn="l">
              <a:lnSpc>
                <a:spcPts val="4578"/>
              </a:lnSpc>
              <a:buFont typeface="Arial"/>
              <a:buChar char="•"/>
            </a:pPr>
            <a:r>
              <a:rPr lang="en-US" sz="2422" dirty="0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Consider security in the application.</a:t>
            </a:r>
          </a:p>
          <a:p>
            <a:pPr marL="522992" lvl="1" indent="-261496" algn="l">
              <a:lnSpc>
                <a:spcPts val="4578"/>
              </a:lnSpc>
              <a:buFont typeface="Arial"/>
              <a:buChar char="•"/>
            </a:pPr>
            <a:r>
              <a:rPr lang="en-US" sz="2422" dirty="0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Improve real-world usability.</a:t>
            </a:r>
          </a:p>
          <a:p>
            <a:pPr marL="0" lvl="0" indent="0" algn="l">
              <a:lnSpc>
                <a:spcPts val="4578"/>
              </a:lnSpc>
            </a:pPr>
            <a:endParaRPr lang="en-US" sz="2422" dirty="0">
              <a:solidFill>
                <a:srgbClr val="1B46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6248105" y="-192807"/>
            <a:ext cx="3327016" cy="2756043"/>
          </a:xfrm>
          <a:custGeom>
            <a:avLst/>
            <a:gdLst/>
            <a:ahLst/>
            <a:cxnLst/>
            <a:rect l="l" t="t" r="r" b="b"/>
            <a:pathLst>
              <a:path w="3327016" h="2756043">
                <a:moveTo>
                  <a:pt x="0" y="0"/>
                </a:moveTo>
                <a:lnTo>
                  <a:pt x="3327016" y="0"/>
                </a:lnTo>
                <a:lnTo>
                  <a:pt x="3327016" y="2756043"/>
                </a:lnTo>
                <a:lnTo>
                  <a:pt x="0" y="2756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743" y="3724586"/>
            <a:ext cx="17382075" cy="2345939"/>
            <a:chOff x="0" y="0"/>
            <a:chExt cx="4577995" cy="6178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7995" cy="617861"/>
            </a:xfrm>
            <a:custGeom>
              <a:avLst/>
              <a:gdLst/>
              <a:ahLst/>
              <a:cxnLst/>
              <a:rect l="l" t="t" r="r" b="b"/>
              <a:pathLst>
                <a:path w="4577995" h="617861">
                  <a:moveTo>
                    <a:pt x="0" y="0"/>
                  </a:moveTo>
                  <a:lnTo>
                    <a:pt x="4577995" y="0"/>
                  </a:lnTo>
                  <a:lnTo>
                    <a:pt x="4577995" y="617861"/>
                  </a:lnTo>
                  <a:lnTo>
                    <a:pt x="0" y="617861"/>
                  </a:lnTo>
                  <a:close/>
                </a:path>
              </a:pathLst>
            </a:custGeom>
            <a:solidFill>
              <a:srgbClr val="1B466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77995" cy="65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3618" y="6613450"/>
            <a:ext cx="17382075" cy="2345696"/>
            <a:chOff x="0" y="0"/>
            <a:chExt cx="4577995" cy="617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7995" cy="617796"/>
            </a:xfrm>
            <a:custGeom>
              <a:avLst/>
              <a:gdLst/>
              <a:ahLst/>
              <a:cxnLst/>
              <a:rect l="l" t="t" r="r" b="b"/>
              <a:pathLst>
                <a:path w="4577995" h="617796">
                  <a:moveTo>
                    <a:pt x="0" y="0"/>
                  </a:moveTo>
                  <a:lnTo>
                    <a:pt x="4577995" y="0"/>
                  </a:lnTo>
                  <a:lnTo>
                    <a:pt x="4577995" y="617796"/>
                  </a:lnTo>
                  <a:lnTo>
                    <a:pt x="0" y="617796"/>
                  </a:lnTo>
                  <a:close/>
                </a:path>
              </a:pathLst>
            </a:custGeom>
            <a:solidFill>
              <a:srgbClr val="1B46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7995" cy="655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5606746" y="-9290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00100" y="7791286"/>
            <a:ext cx="3657600" cy="1167861"/>
          </a:xfrm>
          <a:custGeom>
            <a:avLst/>
            <a:gdLst/>
            <a:ahLst/>
            <a:cxnLst/>
            <a:rect l="l" t="t" r="r" b="b"/>
            <a:pathLst>
              <a:path w="3657600" h="1167861">
                <a:moveTo>
                  <a:pt x="0" y="0"/>
                </a:moveTo>
                <a:lnTo>
                  <a:pt x="3657600" y="0"/>
                </a:lnTo>
                <a:lnTo>
                  <a:pt x="3657600" y="1167860"/>
                </a:lnTo>
                <a:lnTo>
                  <a:pt x="0" y="1167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61307" y="3827733"/>
            <a:ext cx="14205633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75"/>
              </a:lnSpc>
            </a:pPr>
            <a:r>
              <a:rPr lang="en-US" sz="2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  <a:p>
            <a:pPr marL="539751" lvl="1" indent="-269876" algn="l">
              <a:lnSpc>
                <a:spcPts val="48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Proposed for intelligent analysis of processed DVB-S2 receiver output streams.</a:t>
            </a:r>
          </a:p>
          <a:p>
            <a:pPr marL="539751" lvl="1" indent="-269876" algn="l">
              <a:lnSpc>
                <a:spcPts val="48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will be used to analyze processed stream data and extract meaningful information.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5328" y="1650411"/>
            <a:ext cx="11218663" cy="141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58"/>
              </a:lnSpc>
            </a:pPr>
            <a:r>
              <a:rPr lang="en-US" sz="7827">
                <a:solidFill>
                  <a:srgbClr val="1B4663"/>
                </a:solidFill>
                <a:latin typeface="Poppins"/>
                <a:ea typeface="Poppins"/>
                <a:cs typeface="Poppins"/>
                <a:sym typeface="Poppins"/>
              </a:rPr>
              <a:t>TECHNOLOGY AREAS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97821" y="6708700"/>
            <a:ext cx="12761479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75"/>
              </a:lnSpc>
            </a:pPr>
            <a:r>
              <a:rPr lang="en-US" sz="2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CLOUD COMPUTING</a:t>
            </a:r>
          </a:p>
          <a:p>
            <a:pPr marL="539751" lvl="1" indent="-269876" algn="l">
              <a:lnSpc>
                <a:spcPts val="48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Proposed for deployment and accessibility of the software application.</a:t>
            </a:r>
          </a:p>
          <a:p>
            <a:pPr marL="539751" lvl="1" indent="-269876" algn="l">
              <a:lnSpc>
                <a:spcPts val="4875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Cloud Computing will support the scalability of the proposed application.</a:t>
            </a:r>
          </a:p>
        </p:txBody>
      </p:sp>
    </p:spTree>
  </p:cSld>
  <p:clrMapOvr>
    <a:masterClrMapping/>
  </p:clrMapOvr>
  <p:transition spd="med">
    <p:cover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8753" y="527435"/>
            <a:ext cx="11508679" cy="1078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4"/>
              </a:lnSpc>
            </a:pPr>
            <a:r>
              <a:rPr lang="en-US" sz="7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Outcome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8753" y="1958998"/>
            <a:ext cx="4247770" cy="524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STREAM PROCESSING</a:t>
            </a:r>
          </a:p>
          <a:p>
            <a:pPr algn="l">
              <a:lnSpc>
                <a:spcPts val="5336"/>
              </a:lnSpc>
            </a:pPr>
            <a:endParaRPr lang="en-US" sz="485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6067"/>
              </a:lnSpc>
            </a:pPr>
            <a:r>
              <a:rPr lang="en-US" sz="36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&amp; analyze </a:t>
            </a:r>
          </a:p>
          <a:p>
            <a:pPr algn="l">
              <a:lnSpc>
                <a:spcPts val="6067"/>
              </a:lnSpc>
            </a:pPr>
            <a:r>
              <a:rPr lang="en-US" sz="36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DVB-S2 Data.</a:t>
            </a:r>
          </a:p>
        </p:txBody>
      </p:sp>
      <p:sp>
        <p:nvSpPr>
          <p:cNvPr id="4" name="Freeform 4"/>
          <p:cNvSpPr/>
          <p:nvPr/>
        </p:nvSpPr>
        <p:spPr>
          <a:xfrm rot="10713166">
            <a:off x="-938939" y="-836256"/>
            <a:ext cx="2566139" cy="4114800"/>
          </a:xfrm>
          <a:custGeom>
            <a:avLst/>
            <a:gdLst/>
            <a:ahLst/>
            <a:cxnLst/>
            <a:rect l="l" t="t" r="r" b="b"/>
            <a:pathLst>
              <a:path w="2566139" h="4114800">
                <a:moveTo>
                  <a:pt x="0" y="0"/>
                </a:moveTo>
                <a:lnTo>
                  <a:pt x="2566139" y="0"/>
                </a:lnTo>
                <a:lnTo>
                  <a:pt x="2566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938022" y="8241264"/>
            <a:ext cx="2566139" cy="4114800"/>
          </a:xfrm>
          <a:custGeom>
            <a:avLst/>
            <a:gdLst/>
            <a:ahLst/>
            <a:cxnLst/>
            <a:rect l="l" t="t" r="r" b="b"/>
            <a:pathLst>
              <a:path w="2566139" h="4114800">
                <a:moveTo>
                  <a:pt x="0" y="0"/>
                </a:moveTo>
                <a:lnTo>
                  <a:pt x="2566139" y="0"/>
                </a:lnTo>
                <a:lnTo>
                  <a:pt x="2566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95069" y="1958998"/>
            <a:ext cx="4702637" cy="533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AI INTEGRATION</a:t>
            </a:r>
          </a:p>
          <a:p>
            <a:pPr algn="l">
              <a:lnSpc>
                <a:spcPts val="5336"/>
              </a:lnSpc>
            </a:pPr>
            <a:endParaRPr lang="en-US" sz="485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6511"/>
              </a:lnSpc>
            </a:pPr>
            <a:r>
              <a:rPr lang="en-US" sz="3699" spc="-10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Analyze processed stream data using AI.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64481" y="2047741"/>
            <a:ext cx="5594877" cy="524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 </a:t>
            </a:r>
          </a:p>
          <a:p>
            <a:pPr algn="ctr">
              <a:lnSpc>
                <a:spcPts val="7955"/>
              </a:lnSpc>
            </a:pPr>
            <a:r>
              <a:rPr lang="en-US" sz="4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CLOUD INTEGRATION</a:t>
            </a:r>
          </a:p>
          <a:p>
            <a:pPr algn="l">
              <a:lnSpc>
                <a:spcPts val="5336"/>
              </a:lnSpc>
            </a:pPr>
            <a:endParaRPr lang="en-US" sz="485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6073"/>
              </a:lnSpc>
            </a:pPr>
            <a:r>
              <a:rPr lang="en-US" sz="3703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the application using Cloud Computing.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51466" y="7638028"/>
            <a:ext cx="14535296" cy="794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37"/>
              </a:lnSpc>
            </a:pPr>
            <a:r>
              <a:rPr lang="en-US" sz="36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6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Expected result</a:t>
            </a:r>
            <a:r>
              <a:rPr lang="en-US" sz="36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:</a:t>
            </a:r>
            <a:r>
              <a:rPr lang="en-US" sz="3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Near-real-time DVB-S2 stream analysis.</a:t>
            </a:r>
          </a:p>
        </p:txBody>
      </p:sp>
    </p:spTree>
  </p:cSld>
  <p:clrMapOvr>
    <a:masterClrMapping/>
  </p:clrMapOvr>
  <p:transition spd="med">
    <p:cover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Custom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Calibri</vt:lpstr>
      <vt:lpstr>Open Sans</vt:lpstr>
      <vt:lpstr>Arial</vt:lpstr>
      <vt:lpstr>Canva Sans Bold</vt:lpstr>
      <vt:lpstr>Poppins</vt:lpstr>
      <vt:lpstr>Poppins Light</vt:lpstr>
      <vt:lpstr>Poppins Bold</vt:lpstr>
      <vt:lpstr>Poppins Semi-Bold</vt:lpstr>
      <vt:lpstr>Open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DVB-S2 Analysis App</dc:title>
  <cp:lastModifiedBy>Rakeshwar ‎</cp:lastModifiedBy>
  <cp:revision>2</cp:revision>
  <dcterms:created xsi:type="dcterms:W3CDTF">2006-08-16T00:00:00Z</dcterms:created>
  <dcterms:modified xsi:type="dcterms:W3CDTF">2026-08-13T17:47:57Z</dcterms:modified>
  <dc:identifier>DAHSMKSoyL8</dc:identifier>
</cp:coreProperties>
</file>